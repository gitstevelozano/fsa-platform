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0_55BF5D52.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A_AB18843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C_845C8104.xml" ContentType="application/vnd.ms-powerpoint.comments+xml"/>
  <Override PartName="/ppt/notesSlides/notesSlide18.xml" ContentType="application/vnd.openxmlformats-officedocument.presentationml.notesSlide+xml"/>
  <Override PartName="/ppt/comments/modernComment_11D_3C7F10D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4"/>
  </p:notesMasterIdLst>
  <p:sldIdLst>
    <p:sldId id="272" r:id="rId5"/>
    <p:sldId id="299" r:id="rId6"/>
    <p:sldId id="297" r:id="rId7"/>
    <p:sldId id="298" r:id="rId8"/>
    <p:sldId id="278" r:id="rId9"/>
    <p:sldId id="282" r:id="rId10"/>
    <p:sldId id="287" r:id="rId11"/>
    <p:sldId id="283" r:id="rId12"/>
    <p:sldId id="288" r:id="rId13"/>
    <p:sldId id="291" r:id="rId14"/>
    <p:sldId id="289" r:id="rId15"/>
    <p:sldId id="290" r:id="rId16"/>
    <p:sldId id="296" r:id="rId17"/>
    <p:sldId id="295" r:id="rId18"/>
    <p:sldId id="292" r:id="rId19"/>
    <p:sldId id="293" r:id="rId20"/>
    <p:sldId id="284" r:id="rId21"/>
    <p:sldId id="286" r:id="rId22"/>
    <p:sldId id="285" r:id="rId23"/>
  </p:sldIdLst>
  <p:sldSz cx="18288000" cy="10287000"/>
  <p:notesSz cx="6858000" cy="9144000"/>
  <p:embeddedFontLst>
    <p:embeddedFont>
      <p:font typeface="Helvetica" panose="020B060402020202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A49250-50BA-EB60-BEB2-6210E1712039}" name="Pond, Jeffrey (Consultant)" initials="P(" userId="S::jpond@oti.nyc.gov::9abe7a59-8a73-406b-8dc5-bf135bbe5c9a" providerId="AD"/>
  <p188:author id="{69F155D7-CA1B-449F-C3F4-69B4B40414FB}" name="Berg, Dominic" initials="BD" userId="S::dberg@oti.nyc.gov::f232f8b9-fc95-411a-b19d-d02bab4356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EB0FF"/>
    <a:srgbClr val="C471ED"/>
    <a:srgbClr val="33CB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viewProps" Target="viewProps.xml"/><Relationship Id="rId8" Type="http://schemas.openxmlformats.org/officeDocument/2006/relationships/slide" Target="slides/slide4.xml"/></Relationships>
</file>

<file path=ppt/comments/modernComment_11A_AB188434.xml><?xml version="1.0" encoding="utf-8"?>
<p188:cmLst xmlns:a="http://schemas.openxmlformats.org/drawingml/2006/main" xmlns:r="http://schemas.openxmlformats.org/officeDocument/2006/relationships" xmlns:p188="http://schemas.microsoft.com/office/powerpoint/2018/8/main">
  <p188:cm id="{F39245E0-CF68-40BB-8E8F-8CDE04E51D31}" authorId="{FEA49250-50BA-EB60-BEB2-6210E1712039}" created="2024-11-27T00:15:16.934">
    <ac:txMkLst xmlns:ac="http://schemas.microsoft.com/office/drawing/2013/main/command">
      <pc:docMk xmlns:pc="http://schemas.microsoft.com/office/powerpoint/2013/main/command"/>
      <pc:sldMk xmlns:pc="http://schemas.microsoft.com/office/powerpoint/2013/main/command" cId="2870510644" sldId="282"/>
      <ac:spMk id="2" creationId="{00000000-0000-0000-0000-000000000000}"/>
      <ac:txMk cp="28" len="8">
        <ac:context len="37" hash="2516445727"/>
      </ac:txMk>
    </ac:txMkLst>
    <p188:pos x="8953500" y="285750"/>
    <p188:txBody>
      <a:bodyPr/>
      <a:lstStyle/>
      <a:p>
        <a:r>
          <a:rPr lang="en-US"/>
          <a:t>Handbook or Playbook?  We should pick one or the other</a:t>
        </a:r>
      </a:p>
    </p188:txBody>
  </p188:cm>
  <p188:cm id="{2AC139CC-7267-4EFB-9454-B7FA60AADF2F}" authorId="{FEA49250-50BA-EB60-BEB2-6210E1712039}" created="2024-11-27T00:20:24.480">
    <ac:txMkLst xmlns:ac="http://schemas.microsoft.com/office/drawing/2013/main/command">
      <pc:docMk xmlns:pc="http://schemas.microsoft.com/office/powerpoint/2013/main/command"/>
      <pc:sldMk xmlns:pc="http://schemas.microsoft.com/office/powerpoint/2013/main/command" cId="2870510644" sldId="282"/>
      <ac:spMk id="21" creationId="{BA6C1286-C494-101D-D703-2713AFEE981F}"/>
      <ac:txMk cp="0" len="200">
        <ac:context len="201" hash="289117767"/>
      </ac:txMk>
    </ac:txMkLst>
    <p188:pos x="2000250" y="619125"/>
    <p188:txBody>
      <a:bodyPr/>
      <a:lstStyle/>
      <a:p>
        <a:r>
          <a:rPr lang="en-US"/>
          <a:t>Given that this will be distributed (nobody to walk through the slides), we should have grounding statements at the top of certain slides so that the reader understands the context.</a:t>
        </a:r>
      </a:p>
    </p188:txBody>
  </p188:cm>
</p188:cmLst>
</file>

<file path=ppt/comments/modernComment_11C_845C8104.xml><?xml version="1.0" encoding="utf-8"?>
<p188:cmLst xmlns:a="http://schemas.openxmlformats.org/drawingml/2006/main" xmlns:r="http://schemas.openxmlformats.org/officeDocument/2006/relationships" xmlns:p188="http://schemas.microsoft.com/office/powerpoint/2018/8/main">
  <p188:cm id="{426D96D3-0519-4AA0-BB7C-6922911B733C}" authorId="{69F155D7-CA1B-449F-C3F4-69B4B40414FB}" created="2024-11-26T20:33:46.410">
    <ac:txMkLst xmlns:ac="http://schemas.microsoft.com/office/drawing/2013/main/command">
      <pc:docMk xmlns:pc="http://schemas.microsoft.com/office/powerpoint/2013/main/command"/>
      <pc:sldMk xmlns:pc="http://schemas.microsoft.com/office/powerpoint/2013/main/command" cId="2220654852" sldId="284"/>
      <ac:spMk id="13" creationId="{00000000-0000-0000-0000-000000000000}"/>
      <ac:txMk cp="0" len="30">
        <ac:context len="31" hash="1981929441"/>
      </ac:txMk>
    </ac:txMkLst>
    <p188:pos x="5536477" y="341922"/>
    <p188:txBody>
      <a:bodyPr/>
      <a:lstStyle/>
      <a:p>
        <a:r>
          <a:rPr lang="en-US"/>
          <a:t>Agency relations email?</a:t>
        </a:r>
      </a:p>
    </p188:txBody>
  </p188:cm>
</p188:cmLst>
</file>

<file path=ppt/comments/modernComment_11D_3C7F10DE.xml><?xml version="1.0" encoding="utf-8"?>
<p188:cmLst xmlns:a="http://schemas.openxmlformats.org/drawingml/2006/main" xmlns:r="http://schemas.openxmlformats.org/officeDocument/2006/relationships" xmlns:p188="http://schemas.microsoft.com/office/powerpoint/2018/8/main">
  <p188:cm id="{13766151-5F69-4563-950C-D58B5228F5C0}" authorId="{FEA49250-50BA-EB60-BEB2-6210E1712039}" created="2024-11-27T00:23:30.286">
    <ac:txMkLst xmlns:ac="http://schemas.microsoft.com/office/drawing/2013/main/command">
      <pc:docMk xmlns:pc="http://schemas.microsoft.com/office/powerpoint/2013/main/command"/>
      <pc:sldMk xmlns:pc="http://schemas.microsoft.com/office/powerpoint/2013/main/command" cId="1014960350" sldId="285"/>
      <ac:spMk id="2" creationId="{00000000-0000-0000-0000-000000000000}"/>
      <ac:txMk cp="0" len="9">
        <ac:context len="10" hash="1135138944"/>
      </ac:txMk>
    </ac:txMkLst>
    <p188:pos x="5810250" y="381000"/>
    <p188:txBody>
      <a:bodyPr/>
      <a:lstStyle/>
      <a:p>
        <a:r>
          <a:rPr lang="en-US"/>
          <a:t>Should we add screenshots from Common Services to the appendix to help Agencies understand the system?</a:t>
        </a:r>
      </a:p>
    </p188:txBody>
  </p188:cm>
</p188:cmLst>
</file>

<file path=ppt/comments/modernComment_110_55BF5D52.xml><?xml version="1.0" encoding="utf-8"?>
<p188:cmLst xmlns:a="http://schemas.openxmlformats.org/drawingml/2006/main" xmlns:r="http://schemas.openxmlformats.org/officeDocument/2006/relationships" xmlns:p188="http://schemas.microsoft.com/office/powerpoint/2018/8/main">
  <p188:cm id="{B95AF70A-3110-4236-BB84-00CE70CD8F80}" authorId="{FEA49250-50BA-EB60-BEB2-6210E1712039}" created="2024-11-27T00:24:43.852">
    <ac:txMkLst xmlns:ac="http://schemas.microsoft.com/office/drawing/2013/main/command">
      <pc:docMk xmlns:pc="http://schemas.microsoft.com/office/powerpoint/2013/main/command"/>
      <pc:sldMk xmlns:pc="http://schemas.microsoft.com/office/powerpoint/2013/main/command" cId="1438604626" sldId="272"/>
      <ac:spMk id="3" creationId="{00000000-0000-0000-0000-000000000000}"/>
      <ac:txMk cp="20" len="10">
        <ac:context len="31" hash="1005592969"/>
      </ac:txMk>
    </ac:txMkLst>
    <p188:pos x="7985125" y="1936750"/>
    <p188:txBody>
      <a:bodyPr/>
      <a:lstStyle/>
      <a:p>
        <a:r>
          <a:rPr lang="en-US"/>
          <a:t>Added "Integration"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761504-BF04-49C1-8906-5CAD84C3A5D2}" type="datetimeFigureOut">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F626A-FB34-44B0-AC2E-4C091B897AAE}" type="slidenum">
              <a:t>‹#›</a:t>
            </a:fld>
            <a:endParaRPr lang="en-US"/>
          </a:p>
        </p:txBody>
      </p:sp>
    </p:spTree>
    <p:extLst>
      <p:ext uri="{BB962C8B-B14F-4D97-AF65-F5344CB8AC3E}">
        <p14:creationId xmlns:p14="http://schemas.microsoft.com/office/powerpoint/2010/main" val="777876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https://m2.material.io/resources/color/#!/?view.left=1&amp;view.right=0&amp;primary.color=D32F2F&amp;secondary.color=F48FB1</a:t>
            </a:r>
          </a:p>
          <a:p>
            <a:endParaRPr lang="en-US"/>
          </a:p>
          <a:p>
            <a:r>
              <a:rPr lang="en-US"/>
              <a:t>Borders are </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Lack of Mayoral mandate; little to no governance to align agencies on a single digital platform; information was still reliant on agencies and in agency-speak; it became a platform for promoting the administration’s priorities and less about end-user needs</a:t>
            </a:r>
          </a:p>
          <a:p>
            <a:endParaRPr lang="en-US"/>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have seen major growth of 311 and its role in providing information and even public health campaigns, but when it first started it was just a phone number.</a:t>
            </a:r>
          </a:p>
          <a:p>
            <a:endParaRPr lang="en-US"/>
          </a:p>
          <a:p>
            <a:r>
              <a:rPr lang="en-US"/>
              <a:t>I think I was actually the one to create the images for this page</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30436-5CD4-4B88-2623-52A21509E89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C62F75-1AF0-38D5-9DE6-6291CBFAA4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7AF3C1F-C38C-CAFD-1625-AEEA7A00FF8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D9B8524-02DD-A309-3BF4-5559692B1D1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68B7906-4AA0-C3CA-1D85-415772634C6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311 is an incredibly vital information service to New Yorkers and a voice for them when there’s a problem. This is a key difference with MyCity.</a:t>
            </a:r>
          </a:p>
          <a:p>
            <a:r>
              <a:rPr lang="en-US"/>
              <a:t>13</a:t>
            </a:r>
          </a:p>
        </p:txBody>
      </p:sp>
      <p:sp>
        <p:nvSpPr>
          <p:cNvPr id="6" name="Footer Placeholder 5">
            <a:extLst>
              <a:ext uri="{FF2B5EF4-FFF2-40B4-BE49-F238E27FC236}">
                <a16:creationId xmlns:a16="http://schemas.microsoft.com/office/drawing/2014/main" id="{26133383-2407-5213-2A78-FFC2E2FB0D2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6825715-538B-2DA8-EE96-287EE3E996D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29723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0FCF-D378-99CF-7288-F4BCC349BF6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87EC16-38F6-EC59-74FE-4B3E7678AEC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37969A2-EDB0-42BC-00AF-192A493C2C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5870095-4162-6792-A035-A1DB9184BF6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7546CC0-74DC-FBC8-C85A-0A4CAD33894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4F877018-85C8-787B-DB9B-A8AD653592B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767991D-4CA5-DB87-8C49-35D92C6A1FE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92676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7B529-070B-8CF6-089E-D21FA032978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8FD808-C645-819C-BA6E-718664805E5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B8A61F-D1E5-693E-73BC-C6774A6AD6F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A234FE5-524D-30A2-4725-21E9CAD9009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467D4E4-F415-4957-F986-358317BF8C2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1282FC07-A8AF-B7E8-2764-C2F41E926F2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E743D92-1C32-F17B-5187-63ECA62EA19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918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68D8-B1BC-B343-814E-96EBE1B1DF5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DF1369-57F3-8273-2A6D-190AE83130C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804F53C-6BE1-A985-F860-7F038923FA5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2B24CBC-8E43-0741-AD35-E7DD0BD36E8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3E4AE0B-B695-4B31-F668-20F15640470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8E8C16DD-E949-BF53-1251-C26B344373F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0E81DC0-AB74-9494-B0B6-FF881B9602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03283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5C56B-8224-C6D9-0C0A-AAF1DDEA409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D9CC25-CEBF-43FB-994B-5DF4681B773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0C0A739-A5F0-DF48-70E0-900DDF384DA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EEE5444-373E-F8A4-D192-F82927950D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569BEAB-2BC0-5C58-BBA7-50F42185FE7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1FEB929C-50DD-3F97-D6AF-7ECEAE39DF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FC9AB6-5DBF-F0EA-6D9F-A8C2ABC17D2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72210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DE759-6466-E57E-9837-8D5DE5DB59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C524F8-15B4-5A43-FA93-A240156DB39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96849DF-1FA5-29E3-8D74-D4C12E860D4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50D70B5-1AC0-3E1B-A515-62C826ECC13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6939C34-7838-23AB-AA2F-BE9F4F7F1DA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FFD01C30-FCF8-CD1A-9273-F6432BFAF3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115377C-BC68-CBCA-3444-93B592CED42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09857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A8C4-7151-696B-FBDF-3048C358FB7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261B00-2404-5AAD-C58E-14CF921981F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3DE892B-40A0-E73A-6C43-4B8C982617D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CB026F7-BC92-F3C8-1871-0DBF7F3A5CA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99B94BC-3934-C797-E761-6617AD04AA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1CBCEC15-3F93-09AA-1484-BEFAB024532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078E42F-CA7A-B189-5496-9083634C8D4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94713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056FE-09F3-C317-00CB-6F3E60C30CF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020B99-5938-0180-C8B2-D452A419999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B75E9B0-429F-F2F1-44B7-4FCB0F0ED4E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72E4E24-31E3-9623-5AA4-6D20B11879F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346E3C2-6839-9E79-1FCB-A290ADE3CB3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74E922F9-C7FF-C81E-A238-FB35E3A40A7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0DE5DA-6ECD-FB3F-E6AC-4C2420D5ECB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89996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B86A-4EB1-7AAE-4B84-218471AD1D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51F36F-6FE4-C287-E17D-5825BE71B89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7121A53-156C-18B6-C3A9-4F0E7DE4CC0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C912A2A-9369-21F1-64DC-E72D10471A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A8A7FD8-B414-1566-B7A6-AAC0ABF329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integrations with agencies is important for City operations, but the growth of what are known as knowledge articles written by the content team at 311 is important because of the policy information being conveyed to regular people.</a:t>
            </a:r>
          </a:p>
          <a:p>
            <a:r>
              <a:rPr lang="en-US"/>
              <a:t>12</a:t>
            </a:r>
          </a:p>
        </p:txBody>
      </p:sp>
      <p:sp>
        <p:nvSpPr>
          <p:cNvPr id="6" name="Footer Placeholder 5">
            <a:extLst>
              <a:ext uri="{FF2B5EF4-FFF2-40B4-BE49-F238E27FC236}">
                <a16:creationId xmlns:a16="http://schemas.microsoft.com/office/drawing/2014/main" id="{65461480-F77B-2458-C031-26997A08E23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F74C47F-B513-B345-E0DA-C51EA2E98D7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47276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311 is an incredibly vital information service to New Yorkers and a voice for them when there’s a problem. This is a key difference with MyCity.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E76B6-C685-B2BA-8A96-33D7D2AD733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009330-026B-7B1F-A81F-55F06E27C22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417E604-E2F0-9502-7A3F-2A1740E65B7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C0FB50-42AC-C86E-2E1B-124AF1B2844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690B7FB-942F-8782-380C-B013F19A4CE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311 is an incredibly vital information service to New Yorkers and a voice for them when there’s a problem. This is a key difference with MyCity.</a:t>
            </a:r>
          </a:p>
          <a:p>
            <a:r>
              <a:rPr lang="en-US"/>
              <a:t>13</a:t>
            </a:r>
          </a:p>
        </p:txBody>
      </p:sp>
      <p:sp>
        <p:nvSpPr>
          <p:cNvPr id="6" name="Footer Placeholder 5">
            <a:extLst>
              <a:ext uri="{FF2B5EF4-FFF2-40B4-BE49-F238E27FC236}">
                <a16:creationId xmlns:a16="http://schemas.microsoft.com/office/drawing/2014/main" id="{763A844C-855A-C2FA-AB1E-ADB6DB7228E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9F13EA5-F537-EFD2-DC96-CB4046CDAC1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476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10_55BF5D52.xm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1A_AB188434.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C_845C8104.xml"/><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cwitservice.nyc.gov/sp?id=sc_cat_item&amp;sys_id=022d7d479367de5c2823f14efaba1026" TargetMode="External"/><Relationship Id="rId5" Type="http://schemas.openxmlformats.org/officeDocument/2006/relationships/hyperlink" Target="https://cityshare.nycnet/intranets/cityshare_home/assets/cityshare_home/downloads/pdf/it-telecom/mycity-common-services-integration-standard-december2025.pdf" TargetMode="External"/><Relationship Id="rId4" Type="http://schemas.openxmlformats.org/officeDocument/2006/relationships/hyperlink" Target="https://cityshare.nycnet/content/mycityplaybook/page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8/10/relationships/comments" Target="../comments/modernComment_11D_3C7F10DE.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22" y="816366"/>
            <a:ext cx="18282354" cy="8710710"/>
          </a:xfrm>
          <a:custGeom>
            <a:avLst/>
            <a:gdLst/>
            <a:ahLst/>
            <a:cxnLst/>
            <a:rect l="l" t="t" r="r" b="b"/>
            <a:pathLst>
              <a:path w="18282354" h="8710710">
                <a:moveTo>
                  <a:pt x="0" y="0"/>
                </a:moveTo>
                <a:lnTo>
                  <a:pt x="18282353" y="0"/>
                </a:lnTo>
                <a:lnTo>
                  <a:pt x="18282353" y="8710710"/>
                </a:lnTo>
                <a:lnTo>
                  <a:pt x="0" y="8710710"/>
                </a:lnTo>
                <a:lnTo>
                  <a:pt x="0" y="0"/>
                </a:lnTo>
                <a:close/>
              </a:path>
            </a:pathLst>
          </a:custGeom>
          <a:blipFill>
            <a:blip r:embed="rId4"/>
            <a:stretch>
              <a:fillRect t="-129" b="-129"/>
            </a:stretch>
          </a:blipFill>
        </p:spPr>
        <p:txBody>
          <a:bodyPr/>
          <a:lstStyle/>
          <a:p>
            <a:endParaRPr lang="en-US"/>
          </a:p>
        </p:txBody>
      </p:sp>
      <p:sp>
        <p:nvSpPr>
          <p:cNvPr id="3" name="TextBox 3"/>
          <p:cNvSpPr txBox="1"/>
          <p:nvPr/>
        </p:nvSpPr>
        <p:spPr>
          <a:xfrm>
            <a:off x="1066518" y="1609443"/>
            <a:ext cx="14696392" cy="1578958"/>
          </a:xfrm>
          <a:prstGeom prst="rect">
            <a:avLst/>
          </a:prstGeom>
        </p:spPr>
        <p:txBody>
          <a:bodyPr wrap="square" lIns="0" tIns="0" rIns="0" bIns="0" rtlCol="0" anchor="t">
            <a:spAutoFit/>
          </a:bodyPr>
          <a:lstStyle/>
          <a:p>
            <a:pPr>
              <a:lnSpc>
                <a:spcPts val="12960"/>
              </a:lnSpc>
            </a:pPr>
            <a:r>
              <a:rPr lang="en-US" sz="10000" b="1">
                <a:solidFill>
                  <a:srgbClr val="FFFFFF"/>
                </a:solidFill>
                <a:latin typeface="Helvetica Bold"/>
                <a:ea typeface="Helvetica Bold"/>
                <a:cs typeface="Helvetica Bold"/>
                <a:sym typeface="Helvetica Bold"/>
              </a:rPr>
              <a:t>OTI Common Services</a:t>
            </a:r>
            <a:endParaRPr lang="en-US" sz="1600"/>
          </a:p>
        </p:txBody>
      </p:sp>
      <p:sp>
        <p:nvSpPr>
          <p:cNvPr id="4" name="TextBox 4"/>
          <p:cNvSpPr txBox="1"/>
          <p:nvPr/>
        </p:nvSpPr>
        <p:spPr>
          <a:xfrm>
            <a:off x="1179406" y="7660461"/>
            <a:ext cx="14576694" cy="525785"/>
          </a:xfrm>
          <a:prstGeom prst="rect">
            <a:avLst/>
          </a:prstGeom>
        </p:spPr>
        <p:txBody>
          <a:bodyPr lIns="0" tIns="0" rIns="0" bIns="0" rtlCol="0" anchor="t">
            <a:spAutoFit/>
          </a:bodyPr>
          <a:lstStyle/>
          <a:p>
            <a:pPr algn="l">
              <a:lnSpc>
                <a:spcPts val="4050"/>
              </a:lnSpc>
            </a:pPr>
            <a:r>
              <a:rPr lang="en-US" sz="3750">
                <a:solidFill>
                  <a:srgbClr val="FFFFFF"/>
                </a:solidFill>
                <a:latin typeface="Helvetica"/>
                <a:ea typeface="Helvetica"/>
                <a:cs typeface="Helvetica"/>
                <a:sym typeface="Helvetica"/>
              </a:rPr>
              <a:t>Office of Technology &amp; Innovation</a:t>
            </a:r>
          </a:p>
        </p:txBody>
      </p:sp>
      <p:grpSp>
        <p:nvGrpSpPr>
          <p:cNvPr id="5" name="Group 5"/>
          <p:cNvGrpSpPr/>
          <p:nvPr/>
        </p:nvGrpSpPr>
        <p:grpSpPr>
          <a:xfrm>
            <a:off x="1176867" y="7068256"/>
            <a:ext cx="10371677" cy="155258"/>
            <a:chOff x="0" y="0"/>
            <a:chExt cx="13828903" cy="207010"/>
          </a:xfrm>
        </p:grpSpPr>
        <p:sp>
          <p:nvSpPr>
            <p:cNvPr id="6" name="Freeform 6"/>
            <p:cNvSpPr/>
            <p:nvPr/>
          </p:nvSpPr>
          <p:spPr>
            <a:xfrm>
              <a:off x="0" y="0"/>
              <a:ext cx="13828903" cy="207010"/>
            </a:xfrm>
            <a:custGeom>
              <a:avLst/>
              <a:gdLst/>
              <a:ahLst/>
              <a:cxnLst/>
              <a:rect l="l" t="t" r="r" b="b"/>
              <a:pathLst>
                <a:path w="13828903" h="207010">
                  <a:moveTo>
                    <a:pt x="0" y="0"/>
                  </a:moveTo>
                  <a:lnTo>
                    <a:pt x="13828903" y="0"/>
                  </a:lnTo>
                  <a:lnTo>
                    <a:pt x="13828903" y="207010"/>
                  </a:lnTo>
                  <a:lnTo>
                    <a:pt x="0" y="207010"/>
                  </a:lnTo>
                  <a:close/>
                </a:path>
              </a:pathLst>
            </a:custGeom>
            <a:solidFill>
              <a:srgbClr val="ED137D"/>
            </a:solidFill>
          </p:spPr>
          <p:txBody>
            <a:bodyPr/>
            <a:lstStyle/>
            <a:p>
              <a:endParaRPr lang="en-US"/>
            </a:p>
          </p:txBody>
        </p:sp>
      </p:grpSp>
      <p:sp>
        <p:nvSpPr>
          <p:cNvPr id="7" name="Freeform 7"/>
          <p:cNvSpPr/>
          <p:nvPr/>
        </p:nvSpPr>
        <p:spPr>
          <a:xfrm>
            <a:off x="15426267" y="8461803"/>
            <a:ext cx="2562579" cy="743504"/>
          </a:xfrm>
          <a:custGeom>
            <a:avLst/>
            <a:gdLst/>
            <a:ahLst/>
            <a:cxnLst/>
            <a:rect l="l" t="t" r="r" b="b"/>
            <a:pathLst>
              <a:path w="2562579" h="743504">
                <a:moveTo>
                  <a:pt x="0" y="0"/>
                </a:moveTo>
                <a:lnTo>
                  <a:pt x="2562579" y="0"/>
                </a:lnTo>
                <a:lnTo>
                  <a:pt x="2562579" y="743504"/>
                </a:lnTo>
                <a:lnTo>
                  <a:pt x="0" y="743504"/>
                </a:lnTo>
                <a:lnTo>
                  <a:pt x="0" y="0"/>
                </a:lnTo>
                <a:close/>
              </a:path>
            </a:pathLst>
          </a:custGeom>
          <a:blipFill>
            <a:blip r:embed="rId5"/>
            <a:stretch>
              <a:fillRect l="-546" r="-546"/>
            </a:stretch>
          </a:blipFill>
        </p:spPr>
        <p:txBody>
          <a:bodyPr/>
          <a:lstStyle/>
          <a:p>
            <a:endParaRPr lang="en-US"/>
          </a:p>
        </p:txBody>
      </p:sp>
    </p:spTree>
    <p:extLst>
      <p:ext uri="{BB962C8B-B14F-4D97-AF65-F5344CB8AC3E}">
        <p14:creationId xmlns:p14="http://schemas.microsoft.com/office/powerpoint/2010/main" val="1438604626"/>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745952" cy="1381125"/>
          </a:xfrm>
          <a:prstGeom prst="rect">
            <a:avLst/>
          </a:prstGeom>
        </p:spPr>
        <p:txBody>
          <a:bodyPr lIns="0" tIns="0" rIns="0" bIns="0" rtlCol="0" anchor="t">
            <a:spAutoFit/>
          </a:bodyPr>
          <a:lstStyle/>
          <a:p>
            <a:pPr algn="l">
              <a:lnSpc>
                <a:spcPts val="5400"/>
              </a:lnSpc>
            </a:pPr>
            <a:r>
              <a:rPr lang="en-US" sz="5400">
                <a:solidFill>
                  <a:srgbClr val="262626"/>
                </a:solidFill>
                <a:latin typeface="Arial"/>
                <a:ea typeface="Public Sans"/>
                <a:cs typeface="Public Sans"/>
                <a:sym typeface="Public Sans"/>
              </a:rPr>
              <a:t>Transforming Public Service Delivery</a:t>
            </a:r>
          </a:p>
          <a:p>
            <a:pPr algn="l">
              <a:lnSpc>
                <a:spcPts val="5400"/>
              </a:lnSpc>
            </a:pPr>
            <a:endParaRPr lang="en-US" sz="4500">
              <a:solidFill>
                <a:srgbClr val="262626"/>
              </a:solidFill>
              <a:latin typeface="Public Sans"/>
              <a:ea typeface="Public Sans"/>
              <a:cs typeface="Public Sans"/>
              <a:sym typeface="Public Sans"/>
            </a:endParaRP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6" name="TextBox 6"/>
          <p:cNvSpPr txBox="1"/>
          <p:nvPr/>
        </p:nvSpPr>
        <p:spPr>
          <a:xfrm>
            <a:off x="8720398" y="2451340"/>
            <a:ext cx="8538902" cy="7134967"/>
          </a:xfrm>
          <a:prstGeom prst="rect">
            <a:avLst/>
          </a:prstGeom>
        </p:spPr>
        <p:txBody>
          <a:bodyPr lIns="0" tIns="0" rIns="0" bIns="0" rtlCol="0" anchor="t">
            <a:spAutoFit/>
          </a:bodyPr>
          <a:lstStyle/>
          <a:p>
            <a:pPr>
              <a:lnSpc>
                <a:spcPts val="4307"/>
              </a:lnSpc>
            </a:pPr>
            <a:r>
              <a:rPr lang="en-US" sz="3050">
                <a:solidFill>
                  <a:srgbClr val="18072B"/>
                </a:solidFill>
                <a:latin typeface="Arial"/>
                <a:ea typeface="Kollektif"/>
                <a:cs typeface="Kollektif"/>
                <a:sym typeface="Kollektif"/>
              </a:rPr>
              <a:t>MyCity is a unified digital platform designed to streamline how New Yorkers access City services. It simplifies the user experience and enhances operational efficiency for government agencies.</a:t>
            </a:r>
            <a:endParaRPr lang="en-US" sz="3050">
              <a:solidFill>
                <a:srgbClr val="18072B"/>
              </a:solidFill>
              <a:latin typeface="Arial"/>
              <a:ea typeface="Kollektif"/>
              <a:cs typeface="Kollektif"/>
            </a:endParaRPr>
          </a:p>
          <a:p>
            <a:pPr algn="just">
              <a:lnSpc>
                <a:spcPts val="4307"/>
              </a:lnSpc>
            </a:pPr>
            <a:endParaRPr lang="en-US" sz="3050">
              <a:solidFill>
                <a:srgbClr val="18072B"/>
              </a:solidFill>
              <a:latin typeface="Arial"/>
              <a:ea typeface="Kollektif"/>
              <a:cs typeface="Kollektif"/>
            </a:endParaRPr>
          </a:p>
          <a:p>
            <a:pPr marL="664210" lvl="1" indent="-332105">
              <a:lnSpc>
                <a:spcPts val="4307"/>
              </a:lnSpc>
              <a:buFont typeface="Arial"/>
              <a:buChar char="•"/>
            </a:pPr>
            <a:r>
              <a:rPr lang="en-US" sz="3050">
                <a:solidFill>
                  <a:srgbClr val="18072B"/>
                </a:solidFill>
                <a:latin typeface="Arial"/>
                <a:ea typeface="Kollektif"/>
                <a:cs typeface="Kollektif"/>
                <a:sym typeface="Kollektif"/>
              </a:rPr>
              <a:t>For Residents: One-stop access to all City services.</a:t>
            </a:r>
            <a:endParaRPr lang="en-US" sz="3050">
              <a:solidFill>
                <a:srgbClr val="18072B"/>
              </a:solidFill>
              <a:latin typeface="Arial"/>
              <a:ea typeface="Kollektif"/>
              <a:cs typeface="Kollektif"/>
            </a:endParaRPr>
          </a:p>
          <a:p>
            <a:pPr>
              <a:lnSpc>
                <a:spcPts val="4307"/>
              </a:lnSpc>
            </a:pPr>
            <a:endParaRPr lang="en-US" sz="3050">
              <a:solidFill>
                <a:srgbClr val="18072B"/>
              </a:solidFill>
              <a:latin typeface="Arial"/>
              <a:ea typeface="Kollektif"/>
              <a:cs typeface="Kollektif"/>
            </a:endParaRPr>
          </a:p>
          <a:p>
            <a:pPr marL="664210" lvl="1" indent="-332105">
              <a:lnSpc>
                <a:spcPts val="4307"/>
              </a:lnSpc>
              <a:buFont typeface="Arial"/>
              <a:buChar char="•"/>
            </a:pPr>
            <a:r>
              <a:rPr lang="en-US" sz="3050">
                <a:solidFill>
                  <a:srgbClr val="18072B"/>
                </a:solidFill>
                <a:latin typeface="Arial"/>
                <a:ea typeface="Kollektif"/>
                <a:cs typeface="Kollektif"/>
                <a:sym typeface="Kollektif"/>
              </a:rPr>
              <a:t>For Agencies: Increased efficiency and collaboration through shared infrastructure.</a:t>
            </a:r>
            <a:endParaRPr lang="en-US" sz="3050">
              <a:solidFill>
                <a:srgbClr val="18072B"/>
              </a:solidFill>
              <a:latin typeface="Arial"/>
              <a:ea typeface="Kollektif"/>
              <a:cs typeface="Kollektif"/>
            </a:endParaRPr>
          </a:p>
          <a:p>
            <a:pPr algn="just">
              <a:lnSpc>
                <a:spcPts val="4307"/>
              </a:lnSpc>
            </a:pPr>
            <a:endParaRPr lang="en-US" sz="3050">
              <a:solidFill>
                <a:srgbClr val="18072B"/>
              </a:solidFill>
              <a:latin typeface="Arial"/>
              <a:ea typeface="Kollektif"/>
              <a:cs typeface="Kollektif"/>
            </a:endParaRPr>
          </a:p>
          <a:p>
            <a:pPr algn="just">
              <a:lnSpc>
                <a:spcPts val="4307"/>
              </a:lnSpc>
            </a:pPr>
            <a:endParaRPr lang="en-US" sz="3077">
              <a:solidFill>
                <a:srgbClr val="18072B"/>
              </a:solidFill>
              <a:latin typeface="Kollektif"/>
              <a:ea typeface="Kollektif"/>
              <a:cs typeface="Kollektif"/>
              <a:sym typeface="Kollektif"/>
            </a:endParaRPr>
          </a:p>
        </p:txBody>
      </p:sp>
      <p:sp>
        <p:nvSpPr>
          <p:cNvPr id="7" name="Freeform 7"/>
          <p:cNvSpPr/>
          <p:nvPr/>
        </p:nvSpPr>
        <p:spPr>
          <a:xfrm>
            <a:off x="1028700" y="2415034"/>
            <a:ext cx="6618255" cy="6618255"/>
          </a:xfrm>
          <a:custGeom>
            <a:avLst/>
            <a:gdLst/>
            <a:ahLst/>
            <a:cxnLst/>
            <a:rect l="l" t="t" r="r" b="b"/>
            <a:pathLst>
              <a:path w="6618255" h="6618255">
                <a:moveTo>
                  <a:pt x="0" y="0"/>
                </a:moveTo>
                <a:lnTo>
                  <a:pt x="6618255" y="0"/>
                </a:lnTo>
                <a:lnTo>
                  <a:pt x="6618255" y="6618255"/>
                </a:lnTo>
                <a:lnTo>
                  <a:pt x="0" y="6618255"/>
                </a:lnTo>
                <a:lnTo>
                  <a:pt x="0" y="0"/>
                </a:lnTo>
                <a:close/>
              </a:path>
            </a:pathLst>
          </a:custGeom>
          <a:blipFill>
            <a:blip r:embed="rId3"/>
            <a:stretch>
              <a:fillRect/>
            </a:stretch>
          </a:blipFill>
        </p:spPr>
        <p:txBody>
          <a:bodyPr/>
          <a:lstStyle/>
          <a:p>
            <a:endParaRPr lang="en-US"/>
          </a:p>
        </p:txBody>
      </p:sp>
      <p:sp>
        <p:nvSpPr>
          <p:cNvPr id="8" name="Freeform 8"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2812123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745952"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Key Benefits for Agencies</a:t>
            </a: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6" name="TextBox 6"/>
          <p:cNvSpPr txBox="1"/>
          <p:nvPr/>
        </p:nvSpPr>
        <p:spPr>
          <a:xfrm>
            <a:off x="753591" y="2819400"/>
            <a:ext cx="9112785" cy="6219138"/>
          </a:xfrm>
          <a:prstGeom prst="rect">
            <a:avLst/>
          </a:prstGeom>
        </p:spPr>
        <p:txBody>
          <a:bodyPr lIns="0" tIns="0" rIns="0" bIns="0" rtlCol="0" anchor="t">
            <a:spAutoFit/>
          </a:bodyPr>
          <a:lstStyle/>
          <a:p>
            <a:pPr marL="671195" lvl="1" indent="-335280" algn="l">
              <a:lnSpc>
                <a:spcPts val="4355"/>
              </a:lnSpc>
              <a:buFont typeface="Arial"/>
              <a:buChar char="•"/>
            </a:pPr>
            <a:r>
              <a:rPr lang="en-US" sz="3100" b="1">
                <a:solidFill>
                  <a:srgbClr val="18072B"/>
                </a:solidFill>
                <a:latin typeface="Arial" panose="020B0604020202020204" pitchFamily="34" charset="0"/>
                <a:ea typeface="Kollektif Bold"/>
                <a:cs typeface="Arial" panose="020B0604020202020204" pitchFamily="34" charset="0"/>
                <a:sym typeface="Kollektif Bold"/>
              </a:rPr>
              <a:t>Automate workflows</a:t>
            </a:r>
            <a:r>
              <a:rPr lang="en-US" sz="3100">
                <a:solidFill>
                  <a:srgbClr val="18072B"/>
                </a:solidFill>
                <a:latin typeface="Arial" panose="020B0604020202020204" pitchFamily="34" charset="0"/>
                <a:ea typeface="Kollektif"/>
                <a:cs typeface="Arial" panose="020B0604020202020204" pitchFamily="34" charset="0"/>
                <a:sym typeface="Kollektif"/>
              </a:rPr>
              <a:t> and reduce redundant tasks, improving overall productivity.</a:t>
            </a:r>
            <a:endParaRPr lang="en-US" sz="3100">
              <a:latin typeface="Arial" panose="020B0604020202020204" pitchFamily="34" charset="0"/>
              <a:cs typeface="Arial" panose="020B0604020202020204" pitchFamily="34" charset="0"/>
            </a:endParaRPr>
          </a:p>
          <a:p>
            <a:pPr marL="671195" lvl="1" indent="-335280">
              <a:lnSpc>
                <a:spcPts val="4355"/>
              </a:lnSpc>
              <a:buFont typeface="Arial"/>
              <a:buChar char="•"/>
            </a:pPr>
            <a:r>
              <a:rPr lang="en-US" sz="3100" b="1">
                <a:solidFill>
                  <a:srgbClr val="18072B"/>
                </a:solidFill>
                <a:latin typeface="Arial" panose="020B0604020202020204" pitchFamily="34" charset="0"/>
                <a:ea typeface="Kollektif Bold"/>
                <a:cs typeface="Arial" panose="020B0604020202020204" pitchFamily="34" charset="0"/>
                <a:sym typeface="Kollektif Bold"/>
              </a:rPr>
              <a:t>Near real-time data</a:t>
            </a:r>
            <a:r>
              <a:rPr lang="en-US" sz="3100">
                <a:solidFill>
                  <a:srgbClr val="18072B"/>
                </a:solidFill>
                <a:latin typeface="Arial" panose="020B0604020202020204" pitchFamily="34" charset="0"/>
                <a:ea typeface="Kollektif"/>
                <a:cs typeface="Arial" panose="020B0604020202020204" pitchFamily="34" charset="0"/>
                <a:sym typeface="Kollektif"/>
              </a:rPr>
              <a:t> sharing speeds up service delivery across departments.</a:t>
            </a:r>
            <a:endParaRPr lang="en-US" sz="3100">
              <a:solidFill>
                <a:srgbClr val="18072B"/>
              </a:solidFill>
              <a:latin typeface="Arial" panose="020B0604020202020204" pitchFamily="34" charset="0"/>
              <a:ea typeface="Kollektif"/>
              <a:cs typeface="Arial" panose="020B0604020202020204" pitchFamily="34" charset="0"/>
            </a:endParaRPr>
          </a:p>
          <a:p>
            <a:pPr marL="671195" lvl="1" indent="-335280" algn="l">
              <a:lnSpc>
                <a:spcPts val="4355"/>
              </a:lnSpc>
              <a:buFont typeface="Arial"/>
              <a:buChar char="•"/>
            </a:pPr>
            <a:r>
              <a:rPr lang="en-US" sz="3100" b="1">
                <a:solidFill>
                  <a:srgbClr val="18072B"/>
                </a:solidFill>
                <a:latin typeface="Arial" panose="020B0604020202020204" pitchFamily="34" charset="0"/>
                <a:ea typeface="Kollektif Bold"/>
                <a:cs typeface="Arial" panose="020B0604020202020204" pitchFamily="34" charset="0"/>
                <a:sym typeface="Kollektif Bold"/>
              </a:rPr>
              <a:t>Seamless data integration</a:t>
            </a:r>
            <a:r>
              <a:rPr lang="en-US" sz="3100">
                <a:solidFill>
                  <a:srgbClr val="18072B"/>
                </a:solidFill>
                <a:latin typeface="Arial" panose="020B0604020202020204" pitchFamily="34" charset="0"/>
                <a:ea typeface="Kollektif"/>
                <a:cs typeface="Arial" panose="020B0604020202020204" pitchFamily="34" charset="0"/>
                <a:sym typeface="Kollektif"/>
              </a:rPr>
              <a:t> enables better cross-agency coordination.</a:t>
            </a:r>
            <a:endParaRPr lang="en-US" sz="3100">
              <a:solidFill>
                <a:srgbClr val="18072B"/>
              </a:solidFill>
              <a:latin typeface="Arial" panose="020B0604020202020204" pitchFamily="34" charset="0"/>
              <a:ea typeface="Kollektif"/>
              <a:cs typeface="Arial" panose="020B0604020202020204" pitchFamily="34" charset="0"/>
            </a:endParaRPr>
          </a:p>
          <a:p>
            <a:pPr marL="671195" lvl="1" indent="-335280" algn="l">
              <a:lnSpc>
                <a:spcPts val="4355"/>
              </a:lnSpc>
              <a:buFont typeface="Arial"/>
              <a:buChar char="•"/>
            </a:pPr>
            <a:r>
              <a:rPr lang="en-US" sz="3100" b="1">
                <a:solidFill>
                  <a:srgbClr val="18072B"/>
                </a:solidFill>
                <a:latin typeface="Arial" panose="020B0604020202020204" pitchFamily="34" charset="0"/>
                <a:ea typeface="Kollektif Bold"/>
                <a:cs typeface="Arial" panose="020B0604020202020204" pitchFamily="34" charset="0"/>
                <a:sym typeface="Kollektif Bold"/>
              </a:rPr>
              <a:t>Shared infrastructure</a:t>
            </a:r>
            <a:r>
              <a:rPr lang="en-US" sz="3100">
                <a:solidFill>
                  <a:srgbClr val="18072B"/>
                </a:solidFill>
                <a:latin typeface="Arial" panose="020B0604020202020204" pitchFamily="34" charset="0"/>
                <a:ea typeface="Kollektif"/>
                <a:cs typeface="Arial" panose="020B0604020202020204" pitchFamily="34" charset="0"/>
                <a:sym typeface="Kollektif"/>
              </a:rPr>
              <a:t> reduces operational and maintenance costs.</a:t>
            </a:r>
            <a:endParaRPr lang="en-US" sz="3100">
              <a:solidFill>
                <a:srgbClr val="18072B"/>
              </a:solidFill>
              <a:latin typeface="Arial" panose="020B0604020202020204" pitchFamily="34" charset="0"/>
              <a:ea typeface="Kollektif"/>
              <a:cs typeface="Arial" panose="020B0604020202020204" pitchFamily="34" charset="0"/>
            </a:endParaRPr>
          </a:p>
          <a:p>
            <a:pPr marL="671195" lvl="1" indent="-335280" algn="l">
              <a:lnSpc>
                <a:spcPts val="4355"/>
              </a:lnSpc>
              <a:buFont typeface="Arial"/>
              <a:buChar char="•"/>
            </a:pPr>
            <a:r>
              <a:rPr lang="en-US" sz="3100" b="1">
                <a:solidFill>
                  <a:srgbClr val="18072B"/>
                </a:solidFill>
                <a:latin typeface="Arial" panose="020B0604020202020204" pitchFamily="34" charset="0"/>
                <a:ea typeface="Kollektif Bold"/>
                <a:cs typeface="Arial" panose="020B0604020202020204" pitchFamily="34" charset="0"/>
                <a:sym typeface="Kollektif Bold"/>
              </a:rPr>
              <a:t>Secure services</a:t>
            </a:r>
            <a:r>
              <a:rPr lang="en-US" sz="3100">
                <a:solidFill>
                  <a:srgbClr val="18072B"/>
                </a:solidFill>
                <a:latin typeface="Arial" panose="020B0604020202020204" pitchFamily="34" charset="0"/>
                <a:ea typeface="Kollektif"/>
                <a:cs typeface="Arial" panose="020B0604020202020204" pitchFamily="34" charset="0"/>
                <a:sym typeface="Kollektif"/>
              </a:rPr>
              <a:t> with encryption and compliance with industry standards.</a:t>
            </a:r>
            <a:endParaRPr lang="en-US" sz="3100">
              <a:solidFill>
                <a:srgbClr val="18072B"/>
              </a:solidFill>
              <a:latin typeface="Arial" panose="020B0604020202020204" pitchFamily="34" charset="0"/>
              <a:ea typeface="Kollektif"/>
              <a:cs typeface="Arial" panose="020B0604020202020204" pitchFamily="34" charset="0"/>
            </a:endParaRPr>
          </a:p>
          <a:p>
            <a:pPr algn="l">
              <a:lnSpc>
                <a:spcPts val="4909"/>
              </a:lnSpc>
            </a:pPr>
            <a:endParaRPr lang="en-US" sz="3110">
              <a:solidFill>
                <a:srgbClr val="18072B"/>
              </a:solidFill>
              <a:latin typeface="Kollektif"/>
              <a:ea typeface="Kollektif"/>
              <a:cs typeface="Kollektif"/>
              <a:sym typeface="Kollektif"/>
            </a:endParaRPr>
          </a:p>
        </p:txBody>
      </p:sp>
      <p:pic>
        <p:nvPicPr>
          <p:cNvPr id="7" name="Picture 7"/>
          <p:cNvPicPr>
            <a:picLocks noChangeAspect="1"/>
          </p:cNvPicPr>
          <p:nvPr/>
        </p:nvPicPr>
        <p:blipFill>
          <a:blip r:embed="rId3"/>
          <a:stretch>
            <a:fillRect/>
          </a:stretch>
        </p:blipFill>
        <p:spPr>
          <a:xfrm>
            <a:off x="8332470" y="1600150"/>
            <a:ext cx="9738360" cy="8081951"/>
          </a:xfrm>
          <a:prstGeom prst="rect">
            <a:avLst/>
          </a:prstGeom>
        </p:spPr>
      </p:pic>
      <p:sp>
        <p:nvSpPr>
          <p:cNvPr id="8" name="Freeform 8"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2171752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745952"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Key Benefits for Residents</a:t>
            </a: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6" name="Freeform 6"/>
          <p:cNvSpPr/>
          <p:nvPr/>
        </p:nvSpPr>
        <p:spPr>
          <a:xfrm>
            <a:off x="12055228" y="4074269"/>
            <a:ext cx="4964679" cy="1561617"/>
          </a:xfrm>
          <a:custGeom>
            <a:avLst/>
            <a:gdLst/>
            <a:ahLst/>
            <a:cxnLst/>
            <a:rect l="l" t="t" r="r" b="b"/>
            <a:pathLst>
              <a:path w="4964679" h="1561617">
                <a:moveTo>
                  <a:pt x="0" y="0"/>
                </a:moveTo>
                <a:lnTo>
                  <a:pt x="4964680" y="0"/>
                </a:lnTo>
                <a:lnTo>
                  <a:pt x="4964680" y="1561618"/>
                </a:lnTo>
                <a:lnTo>
                  <a:pt x="0" y="1561618"/>
                </a:lnTo>
                <a:lnTo>
                  <a:pt x="0" y="0"/>
                </a:lnTo>
                <a:close/>
              </a:path>
            </a:pathLst>
          </a:custGeom>
          <a:solidFill>
            <a:srgbClr val="9EB0FF"/>
          </a:solidFill>
        </p:spPr>
        <p:txBody>
          <a:bodyPr/>
          <a:lstStyle/>
          <a:p>
            <a:endParaRPr lang="en-US"/>
          </a:p>
        </p:txBody>
      </p:sp>
      <p:sp>
        <p:nvSpPr>
          <p:cNvPr id="7" name="TextBox 7"/>
          <p:cNvSpPr txBox="1"/>
          <p:nvPr/>
        </p:nvSpPr>
        <p:spPr>
          <a:xfrm>
            <a:off x="12221442" y="5937741"/>
            <a:ext cx="5037858" cy="1731724"/>
          </a:xfrm>
          <a:prstGeom prst="rect">
            <a:avLst/>
          </a:prstGeom>
        </p:spPr>
        <p:txBody>
          <a:bodyPr lIns="0" tIns="0" rIns="0" bIns="0" rtlCol="0" anchor="t">
            <a:spAutoFit/>
          </a:bodyPr>
          <a:lstStyle/>
          <a:p>
            <a:pPr algn="l">
              <a:lnSpc>
                <a:spcPts val="3404"/>
              </a:lnSpc>
            </a:pPr>
            <a:r>
              <a:rPr lang="en-US" sz="2431">
                <a:solidFill>
                  <a:srgbClr val="18072B"/>
                </a:solidFill>
                <a:latin typeface="Arial" panose="020B0604020202020204" pitchFamily="34" charset="0"/>
                <a:ea typeface="Kollektif"/>
                <a:cs typeface="Arial" panose="020B0604020202020204" pitchFamily="34" charset="0"/>
                <a:sym typeface="Kollektif"/>
              </a:rPr>
              <a:t>Receive real-time notifications tailored to your needs, with multi-language support and accessibility features for all users.</a:t>
            </a:r>
          </a:p>
        </p:txBody>
      </p:sp>
      <p:sp>
        <p:nvSpPr>
          <p:cNvPr id="8" name="Freeform 8"/>
          <p:cNvSpPr/>
          <p:nvPr/>
        </p:nvSpPr>
        <p:spPr>
          <a:xfrm>
            <a:off x="854996" y="4074269"/>
            <a:ext cx="4964679" cy="1561617"/>
          </a:xfrm>
          <a:custGeom>
            <a:avLst/>
            <a:gdLst/>
            <a:ahLst/>
            <a:cxnLst/>
            <a:rect l="l" t="t" r="r" b="b"/>
            <a:pathLst>
              <a:path w="4964679" h="1561617">
                <a:moveTo>
                  <a:pt x="0" y="0"/>
                </a:moveTo>
                <a:lnTo>
                  <a:pt x="4964680" y="0"/>
                </a:lnTo>
                <a:lnTo>
                  <a:pt x="4964680" y="1561618"/>
                </a:lnTo>
                <a:lnTo>
                  <a:pt x="0" y="1561618"/>
                </a:lnTo>
                <a:lnTo>
                  <a:pt x="0" y="0"/>
                </a:lnTo>
                <a:close/>
              </a:path>
            </a:pathLst>
          </a:custGeom>
          <a:solidFill>
            <a:srgbClr val="9EB0FF"/>
          </a:solidFill>
        </p:spPr>
        <p:txBody>
          <a:bodyPr/>
          <a:lstStyle/>
          <a:p>
            <a:endParaRPr lang="en-US"/>
          </a:p>
        </p:txBody>
      </p:sp>
      <p:sp>
        <p:nvSpPr>
          <p:cNvPr id="9" name="TextBox 9"/>
          <p:cNvSpPr txBox="1"/>
          <p:nvPr/>
        </p:nvSpPr>
        <p:spPr>
          <a:xfrm>
            <a:off x="1229901" y="5937741"/>
            <a:ext cx="5019910" cy="1731724"/>
          </a:xfrm>
          <a:prstGeom prst="rect">
            <a:avLst/>
          </a:prstGeom>
        </p:spPr>
        <p:txBody>
          <a:bodyPr lIns="0" tIns="0" rIns="0" bIns="0" rtlCol="0" anchor="t">
            <a:spAutoFit/>
          </a:bodyPr>
          <a:lstStyle/>
          <a:p>
            <a:pPr algn="l">
              <a:lnSpc>
                <a:spcPts val="3404"/>
              </a:lnSpc>
            </a:pPr>
            <a:r>
              <a:rPr lang="en-US" sz="2431">
                <a:solidFill>
                  <a:srgbClr val="18072B"/>
                </a:solidFill>
                <a:latin typeface="Arial" panose="020B0604020202020204" pitchFamily="34" charset="0"/>
                <a:ea typeface="Kollektif"/>
                <a:cs typeface="Arial" panose="020B0604020202020204" pitchFamily="34" charset="0"/>
                <a:sym typeface="Kollektif"/>
              </a:rPr>
              <a:t>Use one login to access all City services, with personal information reused across platforms to minimize repetitive data entry.</a:t>
            </a:r>
          </a:p>
        </p:txBody>
      </p:sp>
      <p:sp>
        <p:nvSpPr>
          <p:cNvPr id="10" name="TextBox 10"/>
          <p:cNvSpPr txBox="1"/>
          <p:nvPr/>
        </p:nvSpPr>
        <p:spPr>
          <a:xfrm>
            <a:off x="753591" y="4253412"/>
            <a:ext cx="5167490" cy="1171257"/>
          </a:xfrm>
          <a:prstGeom prst="rect">
            <a:avLst/>
          </a:prstGeom>
        </p:spPr>
        <p:txBody>
          <a:bodyPr lIns="0" tIns="0" rIns="0" bIns="0" rtlCol="0" anchor="t">
            <a:spAutoFit/>
          </a:bodyPr>
          <a:lstStyle/>
          <a:p>
            <a:pPr marL="0" lvl="0" indent="0" algn="ctr">
              <a:lnSpc>
                <a:spcPts val="4642"/>
              </a:lnSpc>
              <a:spcBef>
                <a:spcPct val="0"/>
              </a:spcBef>
            </a:pPr>
            <a:r>
              <a:rPr lang="en-US" sz="3316" b="1">
                <a:latin typeface="Arial" panose="020B0604020202020204" pitchFamily="34" charset="0"/>
                <a:ea typeface="Roboto Bold"/>
                <a:cs typeface="Arial" panose="020B0604020202020204" pitchFamily="34" charset="0"/>
                <a:sym typeface="Roboto Bold"/>
              </a:rPr>
              <a:t>TIME SAVINGS &amp; ACCESSABILITY</a:t>
            </a:r>
          </a:p>
        </p:txBody>
      </p:sp>
      <p:sp>
        <p:nvSpPr>
          <p:cNvPr id="11" name="Freeform 11"/>
          <p:cNvSpPr/>
          <p:nvPr/>
        </p:nvSpPr>
        <p:spPr>
          <a:xfrm>
            <a:off x="6455112" y="4074269"/>
            <a:ext cx="4964679" cy="1561617"/>
          </a:xfrm>
          <a:custGeom>
            <a:avLst/>
            <a:gdLst/>
            <a:ahLst/>
            <a:cxnLst/>
            <a:rect l="l" t="t" r="r" b="b"/>
            <a:pathLst>
              <a:path w="4964679" h="1561617">
                <a:moveTo>
                  <a:pt x="0" y="0"/>
                </a:moveTo>
                <a:lnTo>
                  <a:pt x="4964680" y="0"/>
                </a:lnTo>
                <a:lnTo>
                  <a:pt x="4964680" y="1561618"/>
                </a:lnTo>
                <a:lnTo>
                  <a:pt x="0" y="1561618"/>
                </a:lnTo>
                <a:lnTo>
                  <a:pt x="0" y="0"/>
                </a:lnTo>
                <a:close/>
              </a:path>
            </a:pathLst>
          </a:custGeom>
          <a:solidFill>
            <a:srgbClr val="9EB0FF"/>
          </a:solidFill>
        </p:spPr>
        <p:txBody>
          <a:bodyPr/>
          <a:lstStyle/>
          <a:p>
            <a:endParaRPr lang="en-US"/>
          </a:p>
        </p:txBody>
      </p:sp>
      <p:sp>
        <p:nvSpPr>
          <p:cNvPr id="12" name="TextBox 12"/>
          <p:cNvSpPr txBox="1"/>
          <p:nvPr/>
        </p:nvSpPr>
        <p:spPr>
          <a:xfrm>
            <a:off x="6282008" y="4298707"/>
            <a:ext cx="5314396" cy="1128707"/>
          </a:xfrm>
          <a:prstGeom prst="rect">
            <a:avLst/>
          </a:prstGeom>
        </p:spPr>
        <p:txBody>
          <a:bodyPr lIns="0" tIns="0" rIns="0" bIns="0" rtlCol="0" anchor="t">
            <a:spAutoFit/>
          </a:bodyPr>
          <a:lstStyle/>
          <a:p>
            <a:pPr algn="ctr">
              <a:lnSpc>
                <a:spcPts val="4642"/>
              </a:lnSpc>
            </a:pPr>
            <a:r>
              <a:rPr lang="en-US" sz="3300" b="1">
                <a:solidFill>
                  <a:srgbClr val="FFFFFF"/>
                </a:solidFill>
                <a:latin typeface="Arial"/>
                <a:ea typeface="Roboto Bold"/>
                <a:cs typeface="Arial"/>
                <a:sym typeface="Roboto Bold"/>
              </a:rPr>
              <a:t> </a:t>
            </a:r>
            <a:r>
              <a:rPr lang="en-US" sz="3300" b="1">
                <a:latin typeface="Arial"/>
                <a:ea typeface="Roboto Bold"/>
                <a:cs typeface="Arial"/>
                <a:sym typeface="Roboto Bold"/>
              </a:rPr>
              <a:t>DOCUMENT </a:t>
            </a:r>
            <a:endParaRPr lang="en-US" sz="3300">
              <a:latin typeface="Arial"/>
              <a:cs typeface="Arial"/>
              <a:sym typeface="Roboto Bold"/>
            </a:endParaRPr>
          </a:p>
          <a:p>
            <a:pPr algn="ctr">
              <a:lnSpc>
                <a:spcPts val="4642"/>
              </a:lnSpc>
            </a:pPr>
            <a:r>
              <a:rPr lang="en-US" sz="3300" b="1">
                <a:latin typeface="Arial"/>
                <a:ea typeface="Roboto Bold"/>
                <a:cs typeface="Arial"/>
                <a:sym typeface="Roboto Bold"/>
              </a:rPr>
              <a:t>HANDLING</a:t>
            </a:r>
            <a:endParaRPr lang="en-US" sz="3300">
              <a:latin typeface="Arial"/>
              <a:cs typeface="Arial"/>
            </a:endParaRPr>
          </a:p>
        </p:txBody>
      </p:sp>
      <p:sp>
        <p:nvSpPr>
          <p:cNvPr id="13" name="TextBox 13"/>
          <p:cNvSpPr txBox="1"/>
          <p:nvPr/>
        </p:nvSpPr>
        <p:spPr>
          <a:xfrm>
            <a:off x="12018639" y="4253412"/>
            <a:ext cx="5037858" cy="1171257"/>
          </a:xfrm>
          <a:prstGeom prst="rect">
            <a:avLst/>
          </a:prstGeom>
        </p:spPr>
        <p:txBody>
          <a:bodyPr lIns="0" tIns="0" rIns="0" bIns="0" rtlCol="0" anchor="t">
            <a:spAutoFit/>
          </a:bodyPr>
          <a:lstStyle/>
          <a:p>
            <a:pPr algn="ctr">
              <a:lnSpc>
                <a:spcPts val="4642"/>
              </a:lnSpc>
            </a:pPr>
            <a:r>
              <a:rPr lang="en-US" sz="3316" b="1">
                <a:latin typeface="Arial" panose="020B0604020202020204" pitchFamily="34" charset="0"/>
                <a:ea typeface="Roboto Bold"/>
                <a:cs typeface="Arial" panose="020B0604020202020204" pitchFamily="34" charset="0"/>
                <a:sym typeface="Roboto Bold"/>
              </a:rPr>
              <a:t>PERSONALIZED EXPERIENCE</a:t>
            </a:r>
          </a:p>
        </p:txBody>
      </p:sp>
      <p:sp>
        <p:nvSpPr>
          <p:cNvPr id="14" name="TextBox 14"/>
          <p:cNvSpPr txBox="1"/>
          <p:nvPr/>
        </p:nvSpPr>
        <p:spPr>
          <a:xfrm>
            <a:off x="6681517" y="5937741"/>
            <a:ext cx="5080405" cy="1705980"/>
          </a:xfrm>
          <a:prstGeom prst="rect">
            <a:avLst/>
          </a:prstGeom>
        </p:spPr>
        <p:txBody>
          <a:bodyPr lIns="0" tIns="0" rIns="0" bIns="0" rtlCol="0" anchor="t">
            <a:spAutoFit/>
          </a:bodyPr>
          <a:lstStyle/>
          <a:p>
            <a:pPr algn="l">
              <a:lnSpc>
                <a:spcPts val="3404"/>
              </a:lnSpc>
            </a:pPr>
            <a:r>
              <a:rPr lang="en-US" sz="2431">
                <a:solidFill>
                  <a:srgbClr val="18072B"/>
                </a:solidFill>
                <a:latin typeface="Arial" panose="020B0604020202020204" pitchFamily="34" charset="0"/>
                <a:ea typeface="Kollektif"/>
                <a:cs typeface="Arial" panose="020B0604020202020204" pitchFamily="34" charset="0"/>
                <a:sym typeface="Kollektif"/>
              </a:rPr>
              <a:t>Store, reuse, and manage documents securely across all services, reducing paperwork and administrative hassle.</a:t>
            </a:r>
          </a:p>
        </p:txBody>
      </p:sp>
      <p:sp>
        <p:nvSpPr>
          <p:cNvPr id="15" name="Freeform 15"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3022297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282678"/>
            <a:ext cx="18288000" cy="57150"/>
            <a:chOff x="0" y="0"/>
            <a:chExt cx="24384000" cy="76200"/>
          </a:xfrm>
        </p:grpSpPr>
        <p:sp>
          <p:nvSpPr>
            <p:cNvPr id="3" name="Freeform 3"/>
            <p:cNvSpPr/>
            <p:nvPr/>
          </p:nvSpPr>
          <p:spPr>
            <a:xfrm>
              <a:off x="0" y="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grpSp>
      <p:grpSp>
        <p:nvGrpSpPr>
          <p:cNvPr id="4" name="Group 4"/>
          <p:cNvGrpSpPr/>
          <p:nvPr/>
        </p:nvGrpSpPr>
        <p:grpSpPr>
          <a:xfrm>
            <a:off x="1028700" y="3162776"/>
            <a:ext cx="16230627" cy="1400175"/>
            <a:chOff x="0" y="0"/>
            <a:chExt cx="21640836" cy="1866900"/>
          </a:xfrm>
        </p:grpSpPr>
        <p:sp>
          <p:nvSpPr>
            <p:cNvPr id="5" name="Freeform 5"/>
            <p:cNvSpPr/>
            <p:nvPr/>
          </p:nvSpPr>
          <p:spPr>
            <a:xfrm>
              <a:off x="0" y="0"/>
              <a:ext cx="21640836" cy="1866900"/>
            </a:xfrm>
            <a:custGeom>
              <a:avLst/>
              <a:gdLst/>
              <a:ahLst/>
              <a:cxnLst/>
              <a:rect l="l" t="t" r="r" b="b"/>
              <a:pathLst>
                <a:path w="21640836" h="1866900">
                  <a:moveTo>
                    <a:pt x="0" y="0"/>
                  </a:moveTo>
                  <a:lnTo>
                    <a:pt x="21640836" y="0"/>
                  </a:lnTo>
                  <a:lnTo>
                    <a:pt x="21640836" y="1866900"/>
                  </a:lnTo>
                  <a:lnTo>
                    <a:pt x="0" y="1866900"/>
                  </a:lnTo>
                  <a:close/>
                </a:path>
              </a:pathLst>
            </a:custGeom>
            <a:solidFill>
              <a:srgbClr val="ED137D"/>
            </a:solidFill>
          </p:spPr>
          <p:txBody>
            <a:bodyPr/>
            <a:lstStyle/>
            <a:p>
              <a:endParaRPr lang="en-US"/>
            </a:p>
          </p:txBody>
        </p:sp>
        <p:sp>
          <p:nvSpPr>
            <p:cNvPr id="6" name="TextBox 6"/>
            <p:cNvSpPr txBox="1"/>
            <p:nvPr/>
          </p:nvSpPr>
          <p:spPr>
            <a:xfrm>
              <a:off x="0" y="0"/>
              <a:ext cx="21640800" cy="1866900"/>
            </a:xfrm>
            <a:prstGeom prst="rect">
              <a:avLst/>
            </a:prstGeom>
          </p:spPr>
          <p:txBody>
            <a:bodyPr lIns="50800" tIns="50800" rIns="50800" bIns="50800" rtlCol="0" anchor="ctr"/>
            <a:lstStyle/>
            <a:p>
              <a:pPr algn="ctr">
                <a:lnSpc>
                  <a:spcPts val="4320"/>
                </a:lnSpc>
              </a:pPr>
              <a:r>
                <a:rPr lang="en-US" sz="6000" b="1" spc="33">
                  <a:solidFill>
                    <a:srgbClr val="FFFFFF"/>
                  </a:solidFill>
                  <a:latin typeface="TT Rounds Condensed Bold"/>
                  <a:ea typeface="TT Rounds Condensed Bold"/>
                  <a:cs typeface="TT Rounds Condensed Bold"/>
                  <a:sym typeface="TT Rounds Condensed Bold"/>
                </a:rPr>
                <a:t>OTI Common Services Timeline</a:t>
              </a:r>
              <a:endParaRPr lang="en-US" sz="6000" b="1" spc="33">
                <a:solidFill>
                  <a:srgbClr val="FFFFFF"/>
                </a:solidFill>
                <a:latin typeface="TT Rounds Condensed Bold"/>
                <a:ea typeface="TT Rounds Condensed Bold"/>
                <a:cs typeface="TT Rounds Condensed Bold"/>
              </a:endParaRPr>
            </a:p>
          </p:txBody>
        </p:sp>
      </p:grpSp>
      <p:sp>
        <p:nvSpPr>
          <p:cNvPr id="8" name="TextBox 8"/>
          <p:cNvSpPr txBox="1"/>
          <p:nvPr/>
        </p:nvSpPr>
        <p:spPr>
          <a:xfrm>
            <a:off x="646220" y="1288619"/>
            <a:ext cx="17089227" cy="692497"/>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Helvetica"/>
                <a:cs typeface="Arial" panose="020B0604020202020204" pitchFamily="34" charset="0"/>
                <a:sym typeface="Helvetica"/>
              </a:rPr>
              <a:t>Strategic Roadmap</a:t>
            </a:r>
          </a:p>
        </p:txBody>
      </p:sp>
      <p:sp>
        <p:nvSpPr>
          <p:cNvPr id="9" name="TextBox 9"/>
          <p:cNvSpPr txBox="1"/>
          <p:nvPr/>
        </p:nvSpPr>
        <p:spPr>
          <a:xfrm>
            <a:off x="1028699" y="4910978"/>
            <a:ext cx="5088321" cy="4830105"/>
          </a:xfrm>
          <a:prstGeom prst="rect">
            <a:avLst/>
          </a:prstGeom>
        </p:spPr>
        <p:txBody>
          <a:bodyPr wrap="square" lIns="0" tIns="0" rIns="0" bIns="0" rtlCol="0" anchor="t">
            <a:spAutoFit/>
          </a:bodyPr>
          <a:lstStyle/>
          <a:p>
            <a:pPr algn="ctr">
              <a:lnSpc>
                <a:spcPts val="3794"/>
              </a:lnSpc>
            </a:pPr>
            <a:r>
              <a:rPr lang="en-US" sz="2700" b="1">
                <a:solidFill>
                  <a:srgbClr val="18072B"/>
                </a:solidFill>
                <a:latin typeface="Arial"/>
                <a:ea typeface="Helvetica Bold"/>
                <a:cs typeface="Arial"/>
                <a:sym typeface="Helvetica Bold"/>
              </a:rPr>
              <a:t>Core Services 2023-2025</a:t>
            </a:r>
          </a:p>
          <a:p>
            <a:pPr algn="ctr">
              <a:lnSpc>
                <a:spcPts val="3794"/>
              </a:lnSpc>
            </a:pPr>
            <a:endParaRPr lang="en-US" sz="2710" b="1">
              <a:solidFill>
                <a:srgbClr val="18072B"/>
              </a:solidFill>
              <a:latin typeface="Arial" panose="020B0604020202020204" pitchFamily="34" charset="0"/>
              <a:ea typeface="Helvetica Bold"/>
              <a:cs typeface="Arial" panose="020B0604020202020204" pitchFamily="34" charset="0"/>
              <a:sym typeface="Helvetica Bold"/>
            </a:endParaRPr>
          </a:p>
          <a:p>
            <a:pPr>
              <a:lnSpc>
                <a:spcPts val="3794"/>
              </a:lnSpc>
            </a:pPr>
            <a:r>
              <a:rPr lang="en-US" sz="2700" b="1">
                <a:solidFill>
                  <a:schemeClr val="accent1">
                    <a:lumMod val="76000"/>
                  </a:schemeClr>
                </a:solidFill>
                <a:latin typeface="Arial"/>
                <a:ea typeface="Helvetica Bold"/>
                <a:cs typeface="Arial"/>
                <a:sym typeface="Helvetica Bold"/>
              </a:rPr>
              <a:t>MyCity portal and Common Services launched:</a:t>
            </a:r>
          </a:p>
          <a:p>
            <a:pPr marL="457200" indent="-457200">
              <a:lnSpc>
                <a:spcPts val="3794"/>
              </a:lnSpc>
              <a:buFont typeface="Arial" panose="020B0604020202020204" pitchFamily="34" charset="0"/>
              <a:buChar char="•"/>
            </a:pPr>
            <a:r>
              <a:rPr lang="en-US" sz="2700" b="1">
                <a:solidFill>
                  <a:schemeClr val="accent1">
                    <a:lumMod val="76000"/>
                  </a:schemeClr>
                </a:solidFill>
                <a:latin typeface="Arial"/>
                <a:ea typeface="Helvetica Bold"/>
                <a:cs typeface="Arial"/>
                <a:sym typeface="Helvetica Bold"/>
              </a:rPr>
              <a:t>Service Delivery History Dashboard</a:t>
            </a:r>
          </a:p>
          <a:p>
            <a:pPr marL="457200" indent="-457200">
              <a:lnSpc>
                <a:spcPts val="3794"/>
              </a:lnSpc>
              <a:buFont typeface="Arial" panose="020B0604020202020204" pitchFamily="34" charset="0"/>
              <a:buChar char="•"/>
            </a:pPr>
            <a:r>
              <a:rPr lang="en-US" sz="2700" b="1">
                <a:solidFill>
                  <a:schemeClr val="accent1">
                    <a:lumMod val="76000"/>
                  </a:schemeClr>
                </a:solidFill>
                <a:latin typeface="Arial"/>
                <a:ea typeface="Helvetica Bold"/>
                <a:cs typeface="Arial"/>
                <a:sym typeface="Helvetica Bold"/>
              </a:rPr>
              <a:t>Unified Profiles</a:t>
            </a:r>
          </a:p>
          <a:p>
            <a:pPr marL="457200" indent="-457200">
              <a:lnSpc>
                <a:spcPts val="3794"/>
              </a:lnSpc>
              <a:buFont typeface="Arial" panose="020B0604020202020204" pitchFamily="34" charset="0"/>
              <a:buChar char="•"/>
            </a:pPr>
            <a:r>
              <a:rPr lang="en-US" sz="2700" b="1">
                <a:solidFill>
                  <a:schemeClr val="accent1">
                    <a:lumMod val="76000"/>
                  </a:schemeClr>
                </a:solidFill>
                <a:latin typeface="Arial"/>
                <a:ea typeface="Helvetica Bold"/>
                <a:cs typeface="Arial"/>
                <a:sym typeface="Helvetica Bold"/>
              </a:rPr>
              <a:t>Doc Vault / Services</a:t>
            </a:r>
          </a:p>
          <a:p>
            <a:pPr marL="457200" indent="-457200">
              <a:lnSpc>
                <a:spcPts val="3794"/>
              </a:lnSpc>
              <a:buFont typeface="Arial" panose="020B0604020202020204" pitchFamily="34" charset="0"/>
              <a:buChar char="•"/>
            </a:pPr>
            <a:r>
              <a:rPr lang="en-US" sz="2700" b="1">
                <a:solidFill>
                  <a:schemeClr val="accent1">
                    <a:lumMod val="76000"/>
                  </a:schemeClr>
                </a:solidFill>
                <a:latin typeface="Arial"/>
                <a:ea typeface="Helvetica Bold"/>
                <a:cs typeface="Arial"/>
                <a:sym typeface="Helvetica Bold"/>
              </a:rPr>
              <a:t>Email &amp; SMS Messaging</a:t>
            </a:r>
          </a:p>
          <a:p>
            <a:pPr marL="457200" indent="-457200">
              <a:lnSpc>
                <a:spcPts val="3794"/>
              </a:lnSpc>
              <a:buFont typeface="Arial" panose="020B0604020202020204" pitchFamily="34" charset="0"/>
              <a:buChar char="•"/>
            </a:pPr>
            <a:r>
              <a:rPr lang="en-US" sz="2700" b="1">
                <a:solidFill>
                  <a:schemeClr val="accent1">
                    <a:lumMod val="76000"/>
                  </a:schemeClr>
                </a:solidFill>
                <a:latin typeface="Arial"/>
                <a:ea typeface="Helvetica Bold"/>
                <a:cs typeface="Arial"/>
                <a:sym typeface="Helvetica Bold"/>
              </a:rPr>
              <a:t>Recommendations</a:t>
            </a:r>
            <a:endParaRPr lang="en-US" sz="2700" b="1">
              <a:solidFill>
                <a:schemeClr val="accent1">
                  <a:lumMod val="76000"/>
                </a:schemeClr>
              </a:solidFill>
              <a:latin typeface="Arial"/>
              <a:ea typeface="Helvetica Bold"/>
              <a:cs typeface="Arial"/>
            </a:endParaRPr>
          </a:p>
        </p:txBody>
      </p:sp>
      <p:sp>
        <p:nvSpPr>
          <p:cNvPr id="10" name="TextBox 10"/>
          <p:cNvSpPr txBox="1"/>
          <p:nvPr/>
        </p:nvSpPr>
        <p:spPr>
          <a:xfrm>
            <a:off x="6258910" y="4901453"/>
            <a:ext cx="5328349" cy="2329740"/>
          </a:xfrm>
          <a:prstGeom prst="rect">
            <a:avLst/>
          </a:prstGeom>
        </p:spPr>
        <p:txBody>
          <a:bodyPr wrap="square" lIns="0" tIns="0" rIns="0" bIns="0" rtlCol="0" anchor="t">
            <a:spAutoFit/>
          </a:bodyPr>
          <a:lstStyle/>
          <a:p>
            <a:pPr algn="ctr">
              <a:lnSpc>
                <a:spcPts val="3698"/>
              </a:lnSpc>
            </a:pPr>
            <a:r>
              <a:rPr lang="en-US" sz="2600" b="1">
                <a:solidFill>
                  <a:srgbClr val="18072B"/>
                </a:solidFill>
                <a:latin typeface="Arial"/>
                <a:ea typeface="Helvetica Bold"/>
                <a:cs typeface="Arial"/>
                <a:sym typeface="Helvetica Bold"/>
              </a:rPr>
              <a:t>Service Expansion 2026-2027</a:t>
            </a:r>
          </a:p>
          <a:p>
            <a:pPr algn="ctr">
              <a:lnSpc>
                <a:spcPts val="3698"/>
              </a:lnSpc>
            </a:pPr>
            <a:endParaRPr lang="en-US" sz="2641" b="1">
              <a:solidFill>
                <a:srgbClr val="18072B"/>
              </a:solidFill>
              <a:latin typeface="Arial" panose="020B0604020202020204" pitchFamily="34" charset="0"/>
              <a:ea typeface="Helvetica Bold"/>
              <a:cs typeface="Arial" panose="020B0604020202020204" pitchFamily="34" charset="0"/>
              <a:sym typeface="Helvetica Bold"/>
            </a:endParaRPr>
          </a:p>
          <a:p>
            <a:pPr marL="457200" indent="-457200">
              <a:lnSpc>
                <a:spcPts val="3698"/>
              </a:lnSpc>
              <a:buFont typeface="Arial" panose="020B0604020202020204" pitchFamily="34" charset="0"/>
              <a:buChar char="•"/>
            </a:pPr>
            <a:r>
              <a:rPr lang="en-US" sz="2600" b="1">
                <a:solidFill>
                  <a:schemeClr val="accent1">
                    <a:lumMod val="76000"/>
                  </a:schemeClr>
                </a:solidFill>
                <a:latin typeface="Arial"/>
                <a:ea typeface="Helvetica Bold"/>
                <a:cs typeface="Arial"/>
                <a:sym typeface="Helvetica Bold"/>
              </a:rPr>
              <a:t>Common Intake</a:t>
            </a:r>
          </a:p>
          <a:p>
            <a:pPr marL="457200" indent="-457200">
              <a:lnSpc>
                <a:spcPts val="3698"/>
              </a:lnSpc>
              <a:buFont typeface="Arial" panose="020B0604020202020204" pitchFamily="34" charset="0"/>
              <a:buChar char="•"/>
            </a:pPr>
            <a:r>
              <a:rPr lang="en-US" sz="2600" b="1">
                <a:solidFill>
                  <a:schemeClr val="accent1">
                    <a:lumMod val="76000"/>
                  </a:schemeClr>
                </a:solidFill>
                <a:latin typeface="Arial"/>
                <a:ea typeface="Helvetica Bold"/>
                <a:cs typeface="Arial"/>
                <a:sym typeface="Helvetica Bold"/>
              </a:rPr>
              <a:t>Expanded Profiles</a:t>
            </a:r>
          </a:p>
          <a:p>
            <a:pPr marL="457200" indent="-457200">
              <a:lnSpc>
                <a:spcPts val="3698"/>
              </a:lnSpc>
              <a:buFont typeface="Arial" panose="020B0604020202020204" pitchFamily="34" charset="0"/>
              <a:buChar char="•"/>
            </a:pPr>
            <a:r>
              <a:rPr lang="en-US" sz="2600" b="1">
                <a:solidFill>
                  <a:schemeClr val="accent1">
                    <a:lumMod val="76000"/>
                  </a:schemeClr>
                </a:solidFill>
                <a:latin typeface="Arial"/>
                <a:ea typeface="Helvetica Bold"/>
                <a:cs typeface="Arial"/>
              </a:rPr>
              <a:t>Consent Management</a:t>
            </a:r>
          </a:p>
        </p:txBody>
      </p:sp>
      <p:sp>
        <p:nvSpPr>
          <p:cNvPr id="11" name="TextBox 11"/>
          <p:cNvSpPr txBox="1"/>
          <p:nvPr/>
        </p:nvSpPr>
        <p:spPr>
          <a:xfrm>
            <a:off x="12170979" y="4901453"/>
            <a:ext cx="5088321" cy="4227696"/>
          </a:xfrm>
          <a:prstGeom prst="rect">
            <a:avLst/>
          </a:prstGeom>
        </p:spPr>
        <p:txBody>
          <a:bodyPr wrap="square" lIns="0" tIns="0" rIns="0" bIns="0" rtlCol="0" anchor="t">
            <a:spAutoFit/>
          </a:bodyPr>
          <a:lstStyle/>
          <a:p>
            <a:pPr algn="ctr">
              <a:lnSpc>
                <a:spcPts val="3653"/>
              </a:lnSpc>
            </a:pPr>
            <a:r>
              <a:rPr lang="en-US" sz="2600" b="1">
                <a:solidFill>
                  <a:srgbClr val="18072B"/>
                </a:solidFill>
                <a:latin typeface="Arial"/>
                <a:ea typeface="Helvetica Bold"/>
                <a:cs typeface="Arial"/>
                <a:sym typeface="Helvetica Bold"/>
              </a:rPr>
              <a:t>Future Innovations</a:t>
            </a:r>
          </a:p>
          <a:p>
            <a:pPr algn="ctr">
              <a:lnSpc>
                <a:spcPts val="3653"/>
              </a:lnSpc>
            </a:pPr>
            <a:endParaRPr lang="en-US" sz="2609" b="1">
              <a:solidFill>
                <a:srgbClr val="18072B"/>
              </a:solidFill>
              <a:latin typeface="Arial" panose="020B0604020202020204" pitchFamily="34" charset="0"/>
              <a:ea typeface="Helvetica Bold"/>
              <a:cs typeface="Arial" panose="020B0604020202020204" pitchFamily="34" charset="0"/>
              <a:sym typeface="Helvetica Bold"/>
            </a:endParaRPr>
          </a:p>
          <a:p>
            <a:pPr marL="457200" indent="-457200">
              <a:lnSpc>
                <a:spcPts val="3653"/>
              </a:lnSpc>
              <a:buFont typeface="Arial" panose="020B0604020202020204" pitchFamily="34" charset="0"/>
              <a:buChar char="•"/>
            </a:pPr>
            <a:r>
              <a:rPr lang="en-US" sz="2600" b="1">
                <a:solidFill>
                  <a:schemeClr val="accent1">
                    <a:lumMod val="76000"/>
                  </a:schemeClr>
                </a:solidFill>
                <a:latin typeface="Arial"/>
                <a:ea typeface="Helvetica Bold"/>
                <a:cs typeface="Arial"/>
                <a:sym typeface="Helvetica Bold"/>
              </a:rPr>
              <a:t>Inbox / Outbox Secure Doc Exchange</a:t>
            </a:r>
            <a:endParaRPr lang="en-US" sz="2600" b="1">
              <a:solidFill>
                <a:schemeClr val="accent1">
                  <a:lumMod val="76000"/>
                </a:schemeClr>
              </a:solidFill>
              <a:latin typeface="Arial"/>
              <a:ea typeface="Helvetica Bold"/>
              <a:cs typeface="Arial"/>
            </a:endParaRPr>
          </a:p>
          <a:p>
            <a:pPr marL="457200" indent="-457200">
              <a:lnSpc>
                <a:spcPts val="3653"/>
              </a:lnSpc>
              <a:buFont typeface="Arial" panose="020B0604020202020204" pitchFamily="34" charset="0"/>
              <a:buChar char="•"/>
            </a:pPr>
            <a:r>
              <a:rPr lang="en-US" sz="2600" b="1">
                <a:solidFill>
                  <a:schemeClr val="accent1">
                    <a:lumMod val="76000"/>
                  </a:schemeClr>
                </a:solidFill>
                <a:latin typeface="Arial"/>
                <a:ea typeface="Helvetica Bold"/>
                <a:cs typeface="Arial"/>
                <a:sym typeface="Helvetica Bold"/>
              </a:rPr>
              <a:t>Lightweight Fulfillment Backend</a:t>
            </a:r>
            <a:endParaRPr lang="en-US" sz="2600" b="1">
              <a:solidFill>
                <a:schemeClr val="accent1">
                  <a:lumMod val="76000"/>
                </a:schemeClr>
              </a:solidFill>
              <a:latin typeface="Arial"/>
              <a:ea typeface="Helvetica Bold"/>
              <a:cs typeface="Arial"/>
            </a:endParaRPr>
          </a:p>
          <a:p>
            <a:pPr marL="457200" indent="-457200">
              <a:lnSpc>
                <a:spcPts val="3653"/>
              </a:lnSpc>
              <a:buFont typeface="Arial" panose="020B0604020202020204" pitchFamily="34" charset="0"/>
              <a:buChar char="•"/>
            </a:pPr>
            <a:r>
              <a:rPr lang="en-US" sz="2600" b="1">
                <a:solidFill>
                  <a:schemeClr val="accent1">
                    <a:lumMod val="76000"/>
                  </a:schemeClr>
                </a:solidFill>
                <a:latin typeface="Arial"/>
                <a:ea typeface="Helvetica Bold"/>
                <a:cs typeface="Arial"/>
              </a:rPr>
              <a:t>Payments</a:t>
            </a:r>
          </a:p>
          <a:p>
            <a:pPr marL="457200" indent="-457200">
              <a:lnSpc>
                <a:spcPts val="3653"/>
              </a:lnSpc>
              <a:buFont typeface="Arial" panose="020B0604020202020204" pitchFamily="34" charset="0"/>
              <a:buChar char="•"/>
            </a:pPr>
            <a:r>
              <a:rPr lang="en-US" sz="2600" b="1">
                <a:solidFill>
                  <a:schemeClr val="accent1">
                    <a:lumMod val="76000"/>
                  </a:schemeClr>
                </a:solidFill>
                <a:latin typeface="Arial"/>
                <a:ea typeface="Helvetica Bold"/>
                <a:cs typeface="Arial"/>
              </a:rPr>
              <a:t>Case Management</a:t>
            </a:r>
          </a:p>
          <a:p>
            <a:pPr marL="457200" indent="-457200">
              <a:lnSpc>
                <a:spcPts val="3653"/>
              </a:lnSpc>
              <a:buFont typeface="Arial" panose="020B0604020202020204" pitchFamily="34" charset="0"/>
              <a:buChar char="•"/>
            </a:pPr>
            <a:endParaRPr lang="en-US" sz="2600" b="1">
              <a:solidFill>
                <a:schemeClr val="accent1">
                  <a:lumMod val="76000"/>
                </a:schemeClr>
              </a:solidFill>
              <a:latin typeface="Arial"/>
              <a:ea typeface="Helvetica Bold"/>
              <a:cs typeface="Arial"/>
            </a:endParaRPr>
          </a:p>
        </p:txBody>
      </p:sp>
      <p:sp>
        <p:nvSpPr>
          <p:cNvPr id="12" name="Freeform 12"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3503730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745952" cy="695325"/>
          </a:xfrm>
          <a:prstGeom prst="rect">
            <a:avLst/>
          </a:prstGeom>
        </p:spPr>
        <p:txBody>
          <a:bodyPr lIns="0" tIns="0" rIns="0" bIns="0" rtlCol="0" anchor="t">
            <a:spAutoFit/>
          </a:bodyPr>
          <a:lstStyle/>
          <a:p>
            <a:pPr algn="l">
              <a:lnSpc>
                <a:spcPts val="5400"/>
              </a:lnSpc>
            </a:pPr>
            <a:r>
              <a:rPr lang="en-US" sz="5400">
                <a:solidFill>
                  <a:srgbClr val="262626"/>
                </a:solidFill>
                <a:latin typeface="Arial"/>
                <a:ea typeface="Public Sans"/>
                <a:cs typeface="Arial"/>
                <a:sym typeface="Public Sans"/>
              </a:rPr>
              <a:t>Common Services Integration Playbook</a:t>
            </a:r>
            <a:endParaRPr lang="en-US" sz="5400">
              <a:solidFill>
                <a:srgbClr val="262626"/>
              </a:solidFill>
              <a:latin typeface="Arial" panose="020B0604020202020204" pitchFamily="34" charset="0"/>
              <a:ea typeface="Public Sans"/>
              <a:cs typeface="Arial" panose="020B0604020202020204" pitchFamily="34" charset="0"/>
            </a:endParaRP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6" name="Freeform 6"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908546" y="2904060"/>
            <a:ext cx="5573661" cy="460639"/>
          </a:xfrm>
          <a:prstGeom prst="rect">
            <a:avLst/>
          </a:prstGeom>
        </p:spPr>
        <p:txBody>
          <a:bodyPr lIns="0" tIns="0" rIns="0" bIns="0" rtlCol="0" anchor="t">
            <a:spAutoFit/>
          </a:bodyPr>
          <a:lstStyle/>
          <a:p>
            <a:pPr algn="l">
              <a:lnSpc>
                <a:spcPts val="4004"/>
              </a:lnSpc>
            </a:pPr>
            <a:r>
              <a:rPr lang="en-US" sz="2600" b="1">
                <a:solidFill>
                  <a:srgbClr val="000000"/>
                </a:solidFill>
                <a:latin typeface="Arial" panose="020B0604020202020204" pitchFamily="34" charset="0"/>
                <a:ea typeface="Roboto Bold"/>
                <a:cs typeface="Arial" panose="020B0604020202020204" pitchFamily="34" charset="0"/>
                <a:sym typeface="Roboto Bold"/>
              </a:rPr>
              <a:t>Office Hours</a:t>
            </a:r>
          </a:p>
        </p:txBody>
      </p:sp>
      <p:sp>
        <p:nvSpPr>
          <p:cNvPr id="8" name="TextBox 8"/>
          <p:cNvSpPr txBox="1"/>
          <p:nvPr/>
        </p:nvSpPr>
        <p:spPr>
          <a:xfrm>
            <a:off x="1908546" y="3646408"/>
            <a:ext cx="5519929" cy="1259205"/>
          </a:xfrm>
          <a:prstGeom prst="rect">
            <a:avLst/>
          </a:prstGeom>
        </p:spPr>
        <p:txBody>
          <a:bodyPr lIns="0" tIns="0" rIns="0" bIns="0" rtlCol="0" anchor="t">
            <a:spAutoFit/>
          </a:bodyPr>
          <a:lstStyle/>
          <a:p>
            <a:pPr algn="l">
              <a:lnSpc>
                <a:spcPts val="2520"/>
              </a:lnSpc>
            </a:pPr>
            <a:r>
              <a:rPr lang="en-US" sz="1800">
                <a:solidFill>
                  <a:srgbClr val="18072B"/>
                </a:solidFill>
                <a:latin typeface="Arial" panose="020B0604020202020204" pitchFamily="34" charset="0"/>
                <a:ea typeface="Kollektif"/>
                <a:cs typeface="Arial" panose="020B0604020202020204" pitchFamily="34" charset="0"/>
                <a:sym typeface="Kollektif"/>
              </a:rPr>
              <a:t>To support agencies throughout the integration, we offer dedicated office hours where our technical team is available to provide guidance, troubleshoot issues, and answer questions in real-time.</a:t>
            </a:r>
          </a:p>
        </p:txBody>
      </p:sp>
      <p:sp>
        <p:nvSpPr>
          <p:cNvPr id="9" name="Freeform 9"/>
          <p:cNvSpPr/>
          <p:nvPr/>
        </p:nvSpPr>
        <p:spPr>
          <a:xfrm>
            <a:off x="753591" y="2999310"/>
            <a:ext cx="959718" cy="959718"/>
          </a:xfrm>
          <a:custGeom>
            <a:avLst/>
            <a:gdLst/>
            <a:ahLst/>
            <a:cxnLst/>
            <a:rect l="l" t="t" r="r" b="b"/>
            <a:pathLst>
              <a:path w="959718" h="959718">
                <a:moveTo>
                  <a:pt x="0" y="0"/>
                </a:moveTo>
                <a:lnTo>
                  <a:pt x="959718" y="0"/>
                </a:lnTo>
                <a:lnTo>
                  <a:pt x="959718" y="959718"/>
                </a:lnTo>
                <a:lnTo>
                  <a:pt x="0" y="959718"/>
                </a:lnTo>
                <a:lnTo>
                  <a:pt x="0" y="0"/>
                </a:lnTo>
                <a:close/>
              </a:path>
            </a:pathLst>
          </a:custGeom>
          <a:solidFill>
            <a:srgbClr val="9EB0FF"/>
          </a:solidFill>
        </p:spPr>
        <p:txBody>
          <a:bodyPr/>
          <a:lstStyle/>
          <a:p>
            <a:endParaRPr lang="en-US"/>
          </a:p>
        </p:txBody>
      </p:sp>
      <p:sp>
        <p:nvSpPr>
          <p:cNvPr id="10" name="TextBox 10"/>
          <p:cNvSpPr txBox="1"/>
          <p:nvPr/>
        </p:nvSpPr>
        <p:spPr>
          <a:xfrm>
            <a:off x="768351" y="3223423"/>
            <a:ext cx="944958" cy="432298"/>
          </a:xfrm>
          <a:prstGeom prst="rect">
            <a:avLst/>
          </a:prstGeom>
        </p:spPr>
        <p:txBody>
          <a:bodyPr lIns="0" tIns="0" rIns="0" bIns="0" rtlCol="0" anchor="t">
            <a:spAutoFit/>
          </a:bodyPr>
          <a:lstStyle/>
          <a:p>
            <a:pPr algn="ctr">
              <a:lnSpc>
                <a:spcPts val="3669"/>
              </a:lnSpc>
              <a:spcBef>
                <a:spcPct val="0"/>
              </a:spcBef>
            </a:pPr>
            <a:r>
              <a:rPr lang="en-US" sz="2620" b="1">
                <a:solidFill>
                  <a:srgbClr val="FFFFFF"/>
                </a:solidFill>
                <a:latin typeface="Arial" panose="020B0604020202020204" pitchFamily="34" charset="0"/>
                <a:ea typeface="Roboto Bold"/>
                <a:cs typeface="Arial" panose="020B0604020202020204" pitchFamily="34" charset="0"/>
                <a:sym typeface="Roboto Bold"/>
              </a:rPr>
              <a:t>01</a:t>
            </a:r>
          </a:p>
        </p:txBody>
      </p:sp>
      <p:sp>
        <p:nvSpPr>
          <p:cNvPr id="11" name="TextBox 11"/>
          <p:cNvSpPr txBox="1"/>
          <p:nvPr/>
        </p:nvSpPr>
        <p:spPr>
          <a:xfrm>
            <a:off x="1893786" y="5523332"/>
            <a:ext cx="5573661" cy="460639"/>
          </a:xfrm>
          <a:prstGeom prst="rect">
            <a:avLst/>
          </a:prstGeom>
        </p:spPr>
        <p:txBody>
          <a:bodyPr lIns="0" tIns="0" rIns="0" bIns="0" rtlCol="0" anchor="t">
            <a:spAutoFit/>
          </a:bodyPr>
          <a:lstStyle/>
          <a:p>
            <a:pPr algn="l">
              <a:lnSpc>
                <a:spcPts val="4004"/>
              </a:lnSpc>
            </a:pPr>
            <a:r>
              <a:rPr lang="en-US" sz="2600" b="1">
                <a:solidFill>
                  <a:srgbClr val="000000"/>
                </a:solidFill>
                <a:latin typeface="Arial" panose="020B0604020202020204" pitchFamily="34" charset="0"/>
                <a:ea typeface="Roboto Bold"/>
                <a:cs typeface="Arial" panose="020B0604020202020204" pitchFamily="34" charset="0"/>
                <a:sym typeface="Roboto Bold"/>
              </a:rPr>
              <a:t>SDK Development</a:t>
            </a:r>
          </a:p>
        </p:txBody>
      </p:sp>
      <p:sp>
        <p:nvSpPr>
          <p:cNvPr id="12" name="TextBox 12"/>
          <p:cNvSpPr txBox="1"/>
          <p:nvPr/>
        </p:nvSpPr>
        <p:spPr>
          <a:xfrm>
            <a:off x="1893786" y="6265680"/>
            <a:ext cx="5519929" cy="1573530"/>
          </a:xfrm>
          <a:prstGeom prst="rect">
            <a:avLst/>
          </a:prstGeom>
        </p:spPr>
        <p:txBody>
          <a:bodyPr lIns="0" tIns="0" rIns="0" bIns="0" rtlCol="0" anchor="t">
            <a:spAutoFit/>
          </a:bodyPr>
          <a:lstStyle/>
          <a:p>
            <a:pPr algn="l">
              <a:lnSpc>
                <a:spcPts val="2520"/>
              </a:lnSpc>
            </a:pPr>
            <a:r>
              <a:rPr lang="en-US" sz="1800">
                <a:solidFill>
                  <a:srgbClr val="18072B"/>
                </a:solidFill>
                <a:latin typeface="Arial" panose="020B0604020202020204" pitchFamily="34" charset="0"/>
                <a:ea typeface="Kollektif"/>
                <a:cs typeface="Arial" panose="020B0604020202020204" pitchFamily="34" charset="0"/>
                <a:sym typeface="Kollektif"/>
              </a:rPr>
              <a:t>We've built a Software Development Kit (SDK) to simplify the integration process, providing reusable components, APIs, and documentation that accelerate development and ensure consistency across all services.</a:t>
            </a:r>
          </a:p>
        </p:txBody>
      </p:sp>
      <p:sp>
        <p:nvSpPr>
          <p:cNvPr id="13" name="Freeform 13"/>
          <p:cNvSpPr/>
          <p:nvPr/>
        </p:nvSpPr>
        <p:spPr>
          <a:xfrm>
            <a:off x="768351" y="5618582"/>
            <a:ext cx="959718" cy="959718"/>
          </a:xfrm>
          <a:custGeom>
            <a:avLst/>
            <a:gdLst/>
            <a:ahLst/>
            <a:cxnLst/>
            <a:rect l="l" t="t" r="r" b="b"/>
            <a:pathLst>
              <a:path w="959718" h="959718">
                <a:moveTo>
                  <a:pt x="0" y="0"/>
                </a:moveTo>
                <a:lnTo>
                  <a:pt x="959719" y="0"/>
                </a:lnTo>
                <a:lnTo>
                  <a:pt x="959719" y="959718"/>
                </a:lnTo>
                <a:lnTo>
                  <a:pt x="0" y="959718"/>
                </a:lnTo>
                <a:lnTo>
                  <a:pt x="0" y="0"/>
                </a:lnTo>
                <a:close/>
              </a:path>
            </a:pathLst>
          </a:custGeom>
          <a:solidFill>
            <a:srgbClr val="9EB0FF"/>
          </a:solidFill>
        </p:spPr>
        <p:txBody>
          <a:bodyPr/>
          <a:lstStyle/>
          <a:p>
            <a:endParaRPr lang="en-US">
              <a:latin typeface="Arial" panose="020B0604020202020204" pitchFamily="34" charset="0"/>
              <a:cs typeface="Arial" panose="020B0604020202020204" pitchFamily="34" charset="0"/>
            </a:endParaRPr>
          </a:p>
        </p:txBody>
      </p:sp>
      <p:sp>
        <p:nvSpPr>
          <p:cNvPr id="14" name="TextBox 14"/>
          <p:cNvSpPr txBox="1"/>
          <p:nvPr/>
        </p:nvSpPr>
        <p:spPr>
          <a:xfrm>
            <a:off x="783112" y="5842695"/>
            <a:ext cx="944958" cy="432298"/>
          </a:xfrm>
          <a:prstGeom prst="rect">
            <a:avLst/>
          </a:prstGeom>
        </p:spPr>
        <p:txBody>
          <a:bodyPr lIns="0" tIns="0" rIns="0" bIns="0" rtlCol="0" anchor="t">
            <a:spAutoFit/>
          </a:bodyPr>
          <a:lstStyle/>
          <a:p>
            <a:pPr algn="ctr">
              <a:lnSpc>
                <a:spcPts val="3669"/>
              </a:lnSpc>
              <a:spcBef>
                <a:spcPct val="0"/>
              </a:spcBef>
            </a:pPr>
            <a:r>
              <a:rPr lang="en-US" sz="2620" b="1">
                <a:solidFill>
                  <a:srgbClr val="FFFFFF"/>
                </a:solidFill>
                <a:latin typeface="Arial" panose="020B0604020202020204" pitchFamily="34" charset="0"/>
                <a:ea typeface="Roboto Bold"/>
                <a:cs typeface="Arial" panose="020B0604020202020204" pitchFamily="34" charset="0"/>
                <a:sym typeface="Roboto Bold"/>
              </a:rPr>
              <a:t>02</a:t>
            </a:r>
          </a:p>
        </p:txBody>
      </p:sp>
      <p:sp>
        <p:nvSpPr>
          <p:cNvPr id="15" name="TextBox 15"/>
          <p:cNvSpPr txBox="1"/>
          <p:nvPr/>
        </p:nvSpPr>
        <p:spPr>
          <a:xfrm>
            <a:off x="1908546" y="8068944"/>
            <a:ext cx="5573661" cy="460639"/>
          </a:xfrm>
          <a:prstGeom prst="rect">
            <a:avLst/>
          </a:prstGeom>
        </p:spPr>
        <p:txBody>
          <a:bodyPr lIns="0" tIns="0" rIns="0" bIns="0" rtlCol="0" anchor="t">
            <a:spAutoFit/>
          </a:bodyPr>
          <a:lstStyle/>
          <a:p>
            <a:pPr algn="l">
              <a:lnSpc>
                <a:spcPts val="4004"/>
              </a:lnSpc>
            </a:pPr>
            <a:r>
              <a:rPr lang="en-US" sz="2600" b="1">
                <a:solidFill>
                  <a:srgbClr val="000000"/>
                </a:solidFill>
                <a:latin typeface="Arial"/>
                <a:ea typeface="Roboto Bold"/>
                <a:cs typeface="Arial"/>
                <a:sym typeface="Roboto Bold"/>
              </a:rPr>
              <a:t>Continuous Updates</a:t>
            </a:r>
          </a:p>
        </p:txBody>
      </p:sp>
      <p:sp>
        <p:nvSpPr>
          <p:cNvPr id="16" name="TextBox 16"/>
          <p:cNvSpPr txBox="1"/>
          <p:nvPr/>
        </p:nvSpPr>
        <p:spPr>
          <a:xfrm>
            <a:off x="1908546" y="8811292"/>
            <a:ext cx="5519929" cy="1254831"/>
          </a:xfrm>
          <a:prstGeom prst="rect">
            <a:avLst/>
          </a:prstGeom>
        </p:spPr>
        <p:txBody>
          <a:bodyPr lIns="0" tIns="0" rIns="0" bIns="0" rtlCol="0" anchor="t">
            <a:spAutoFit/>
          </a:bodyPr>
          <a:lstStyle/>
          <a:p>
            <a:pPr algn="l">
              <a:lnSpc>
                <a:spcPts val="2520"/>
              </a:lnSpc>
            </a:pPr>
            <a:r>
              <a:rPr lang="en-US" sz="1800">
                <a:solidFill>
                  <a:srgbClr val="18072B"/>
                </a:solidFill>
                <a:latin typeface="Arial" panose="020B0604020202020204" pitchFamily="34" charset="0"/>
                <a:ea typeface="Kollektif"/>
                <a:cs typeface="Arial" panose="020B0604020202020204" pitchFamily="34" charset="0"/>
                <a:sym typeface="Kollektif"/>
              </a:rPr>
              <a:t>The handbook is a living document, with regular updates to keep agencies aligned with the latest features, system improvements, and security protocols.</a:t>
            </a:r>
          </a:p>
        </p:txBody>
      </p:sp>
      <p:sp>
        <p:nvSpPr>
          <p:cNvPr id="17" name="Freeform 17"/>
          <p:cNvSpPr/>
          <p:nvPr/>
        </p:nvSpPr>
        <p:spPr>
          <a:xfrm>
            <a:off x="783112" y="8166276"/>
            <a:ext cx="959718" cy="959718"/>
          </a:xfrm>
          <a:custGeom>
            <a:avLst/>
            <a:gdLst/>
            <a:ahLst/>
            <a:cxnLst/>
            <a:rect l="l" t="t" r="r" b="b"/>
            <a:pathLst>
              <a:path w="959718" h="959718">
                <a:moveTo>
                  <a:pt x="0" y="0"/>
                </a:moveTo>
                <a:lnTo>
                  <a:pt x="959718" y="0"/>
                </a:lnTo>
                <a:lnTo>
                  <a:pt x="959718" y="959718"/>
                </a:lnTo>
                <a:lnTo>
                  <a:pt x="0" y="959718"/>
                </a:lnTo>
                <a:lnTo>
                  <a:pt x="0" y="0"/>
                </a:lnTo>
                <a:close/>
              </a:path>
            </a:pathLst>
          </a:custGeom>
          <a:solidFill>
            <a:srgbClr val="9EB0FF"/>
          </a:solidFill>
        </p:spPr>
        <p:txBody>
          <a:bodyPr/>
          <a:lstStyle/>
          <a:p>
            <a:endParaRPr lang="en-US"/>
          </a:p>
        </p:txBody>
      </p:sp>
      <p:sp>
        <p:nvSpPr>
          <p:cNvPr id="18" name="TextBox 18"/>
          <p:cNvSpPr txBox="1"/>
          <p:nvPr/>
        </p:nvSpPr>
        <p:spPr>
          <a:xfrm>
            <a:off x="797872" y="8390389"/>
            <a:ext cx="944958" cy="432298"/>
          </a:xfrm>
          <a:prstGeom prst="rect">
            <a:avLst/>
          </a:prstGeom>
        </p:spPr>
        <p:txBody>
          <a:bodyPr lIns="0" tIns="0" rIns="0" bIns="0" rtlCol="0" anchor="t">
            <a:spAutoFit/>
          </a:bodyPr>
          <a:lstStyle/>
          <a:p>
            <a:pPr algn="ctr">
              <a:lnSpc>
                <a:spcPts val="3669"/>
              </a:lnSpc>
              <a:spcBef>
                <a:spcPct val="0"/>
              </a:spcBef>
            </a:pPr>
            <a:r>
              <a:rPr lang="en-US" sz="2620" b="1">
                <a:solidFill>
                  <a:srgbClr val="FFFFFF"/>
                </a:solidFill>
                <a:latin typeface="Arial" panose="020B0604020202020204" pitchFamily="34" charset="0"/>
                <a:ea typeface="Roboto Bold"/>
                <a:cs typeface="Arial" panose="020B0604020202020204" pitchFamily="34" charset="0"/>
                <a:sym typeface="Roboto Bold"/>
              </a:rPr>
              <a:t>03</a:t>
            </a:r>
          </a:p>
        </p:txBody>
      </p:sp>
      <p:grpSp>
        <p:nvGrpSpPr>
          <p:cNvPr id="26" name="Group 25">
            <a:extLst>
              <a:ext uri="{FF2B5EF4-FFF2-40B4-BE49-F238E27FC236}">
                <a16:creationId xmlns:a16="http://schemas.microsoft.com/office/drawing/2014/main" id="{D2A35052-8615-DF40-A7DC-5171BEB9F842}"/>
              </a:ext>
            </a:extLst>
          </p:cNvPr>
          <p:cNvGrpSpPr/>
          <p:nvPr/>
        </p:nvGrpSpPr>
        <p:grpSpPr>
          <a:xfrm>
            <a:off x="9139124" y="5540739"/>
            <a:ext cx="3800707" cy="1205086"/>
            <a:chOff x="8646271" y="3843571"/>
            <a:chExt cx="3800707" cy="1205086"/>
          </a:xfrm>
        </p:grpSpPr>
        <p:sp>
          <p:nvSpPr>
            <p:cNvPr id="22" name="Freeform 8">
              <a:extLst>
                <a:ext uri="{FF2B5EF4-FFF2-40B4-BE49-F238E27FC236}">
                  <a16:creationId xmlns:a16="http://schemas.microsoft.com/office/drawing/2014/main" id="{C6CF909E-B95D-630A-5B25-130E1407269A}"/>
                </a:ext>
              </a:extLst>
            </p:cNvPr>
            <p:cNvSpPr/>
            <p:nvPr/>
          </p:nvSpPr>
          <p:spPr>
            <a:xfrm>
              <a:off x="8646271" y="3843571"/>
              <a:ext cx="3800707" cy="1205086"/>
            </a:xfrm>
            <a:prstGeom prst="roundRect">
              <a:avLst/>
            </a:prstGeom>
            <a:solidFill>
              <a:srgbClr val="9EB0FF"/>
            </a:solidFill>
          </p:spPr>
          <p:txBody>
            <a:bodyPr/>
            <a:lstStyle/>
            <a:p>
              <a:endParaRPr lang="en-US">
                <a:latin typeface="Arial" panose="020B0604020202020204" pitchFamily="34" charset="0"/>
                <a:cs typeface="Arial" panose="020B0604020202020204" pitchFamily="34" charset="0"/>
              </a:endParaRPr>
            </a:p>
          </p:txBody>
        </p:sp>
        <p:sp>
          <p:nvSpPr>
            <p:cNvPr id="19" name="TextBox 19"/>
            <p:cNvSpPr txBox="1"/>
            <p:nvPr/>
          </p:nvSpPr>
          <p:spPr>
            <a:xfrm>
              <a:off x="9096978" y="3921414"/>
              <a:ext cx="2899291" cy="1077174"/>
            </a:xfrm>
            <a:prstGeom prst="roundRect">
              <a:avLst/>
            </a:prstGeom>
            <a:solidFill>
              <a:srgbClr val="9EB0FF"/>
            </a:solidFill>
          </p:spPr>
          <p:txBody>
            <a:bodyPr lIns="0" tIns="0" rIns="0" bIns="0" rtlCol="0" anchor="t">
              <a:spAutoFit/>
            </a:bodyPr>
            <a:lstStyle/>
            <a:p>
              <a:pPr algn="ctr">
                <a:lnSpc>
                  <a:spcPts val="4004"/>
                </a:lnSpc>
                <a:spcBef>
                  <a:spcPct val="0"/>
                </a:spcBef>
              </a:pPr>
              <a:r>
                <a:rPr lang="en-US" sz="2600" b="1">
                  <a:latin typeface="Arial" panose="020B0604020202020204" pitchFamily="34" charset="0"/>
                  <a:ea typeface="Roboto Bold"/>
                  <a:cs typeface="Arial" panose="020B0604020202020204" pitchFamily="34" charset="0"/>
                  <a:sym typeface="Roboto Bold"/>
                </a:rPr>
                <a:t>Business  Playbook</a:t>
              </a:r>
              <a:endParaRPr lang="en-US" sz="2600" b="1">
                <a:latin typeface="Arial" panose="020B0604020202020204" pitchFamily="34" charset="0"/>
                <a:ea typeface="Roboto Bold"/>
                <a:cs typeface="Arial" panose="020B0604020202020204" pitchFamily="34" charset="0"/>
              </a:endParaRPr>
            </a:p>
          </p:txBody>
        </p:sp>
      </p:grpSp>
      <p:grpSp>
        <p:nvGrpSpPr>
          <p:cNvPr id="25" name="Group 24">
            <a:extLst>
              <a:ext uri="{FF2B5EF4-FFF2-40B4-BE49-F238E27FC236}">
                <a16:creationId xmlns:a16="http://schemas.microsoft.com/office/drawing/2014/main" id="{36BB2DCB-70C0-F67D-BBA7-DE563984EB7C}"/>
              </a:ext>
            </a:extLst>
          </p:cNvPr>
          <p:cNvGrpSpPr/>
          <p:nvPr/>
        </p:nvGrpSpPr>
        <p:grpSpPr>
          <a:xfrm>
            <a:off x="13721609" y="5498793"/>
            <a:ext cx="3800707" cy="1205086"/>
            <a:chOff x="13616747" y="5301157"/>
            <a:chExt cx="3800707" cy="1205086"/>
          </a:xfrm>
        </p:grpSpPr>
        <p:sp>
          <p:nvSpPr>
            <p:cNvPr id="24" name="Freeform 8">
              <a:extLst>
                <a:ext uri="{FF2B5EF4-FFF2-40B4-BE49-F238E27FC236}">
                  <a16:creationId xmlns:a16="http://schemas.microsoft.com/office/drawing/2014/main" id="{904DA435-2177-07F0-AEF9-91109643930C}"/>
                </a:ext>
              </a:extLst>
            </p:cNvPr>
            <p:cNvSpPr/>
            <p:nvPr/>
          </p:nvSpPr>
          <p:spPr>
            <a:xfrm>
              <a:off x="13616747" y="5301157"/>
              <a:ext cx="3800707" cy="1205086"/>
            </a:xfrm>
            <a:prstGeom prst="roundRect">
              <a:avLst/>
            </a:prstGeom>
            <a:solidFill>
              <a:srgbClr val="9EB0FF"/>
            </a:solidFill>
          </p:spPr>
          <p:txBody>
            <a:bodyPr/>
            <a:lstStyle/>
            <a:p>
              <a:endParaRPr lang="en-US">
                <a:latin typeface="Arial" panose="020B0604020202020204" pitchFamily="34" charset="0"/>
                <a:cs typeface="Arial" panose="020B0604020202020204" pitchFamily="34" charset="0"/>
              </a:endParaRPr>
            </a:p>
          </p:txBody>
        </p:sp>
        <p:sp>
          <p:nvSpPr>
            <p:cNvPr id="20" name="TextBox 20"/>
            <p:cNvSpPr txBox="1"/>
            <p:nvPr/>
          </p:nvSpPr>
          <p:spPr>
            <a:xfrm>
              <a:off x="14062096" y="5374408"/>
              <a:ext cx="2910007" cy="1077174"/>
            </a:xfrm>
            <a:prstGeom prst="roundRect">
              <a:avLst/>
            </a:prstGeom>
            <a:solidFill>
              <a:srgbClr val="9EB0FF"/>
            </a:solidFill>
          </p:spPr>
          <p:txBody>
            <a:bodyPr lIns="0" tIns="0" rIns="0" bIns="0" rtlCol="0" anchor="t">
              <a:spAutoFit/>
            </a:bodyPr>
            <a:lstStyle/>
            <a:p>
              <a:pPr algn="ctr">
                <a:lnSpc>
                  <a:spcPts val="4004"/>
                </a:lnSpc>
                <a:spcBef>
                  <a:spcPct val="0"/>
                </a:spcBef>
              </a:pPr>
              <a:r>
                <a:rPr lang="en-US" sz="2600" b="1">
                  <a:latin typeface="Arial" panose="020B0604020202020204" pitchFamily="34" charset="0"/>
                  <a:ea typeface="Roboto Bold"/>
                  <a:cs typeface="Arial" panose="020B0604020202020204" pitchFamily="34" charset="0"/>
                  <a:sym typeface="Roboto Bold"/>
                </a:rPr>
                <a:t>Technical Playbook</a:t>
              </a:r>
              <a:endParaRPr lang="en-US" sz="2600" b="1">
                <a:latin typeface="Arial" panose="020B0604020202020204" pitchFamily="34" charset="0"/>
                <a:ea typeface="Roboto Bold"/>
                <a:cs typeface="Arial" panose="020B0604020202020204" pitchFamily="34" charset="0"/>
              </a:endParaRPr>
            </a:p>
          </p:txBody>
        </p:sp>
      </p:grpSp>
      <p:sp>
        <p:nvSpPr>
          <p:cNvPr id="21" name="TextBox 20">
            <a:extLst>
              <a:ext uri="{FF2B5EF4-FFF2-40B4-BE49-F238E27FC236}">
                <a16:creationId xmlns:a16="http://schemas.microsoft.com/office/drawing/2014/main" id="{BA6C1286-C494-101D-D703-2713AFEE981F}"/>
              </a:ext>
            </a:extLst>
          </p:cNvPr>
          <p:cNvSpPr txBox="1"/>
          <p:nvPr/>
        </p:nvSpPr>
        <p:spPr>
          <a:xfrm>
            <a:off x="793750" y="2016125"/>
            <a:ext cx="168751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a:highlight>
                  <a:srgbClr val="FFFF00"/>
                </a:highlight>
                <a:cs typeface="Calibri"/>
              </a:rPr>
              <a:t>Add a grounding statement here... "OTI provided integration playbook materials will help Agencies understand the MyCity mission, concepts, and summarize 'How' to deliver the Agency system integration"</a:t>
            </a:r>
          </a:p>
        </p:txBody>
      </p:sp>
    </p:spTree>
    <p:extLst>
      <p:ext uri="{BB962C8B-B14F-4D97-AF65-F5344CB8AC3E}">
        <p14:creationId xmlns:p14="http://schemas.microsoft.com/office/powerpoint/2010/main" val="287051064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E86798-F989-7A53-BDE9-2D7414B5D37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1E7885C-08E2-A497-EF1C-A5C025D90B58}"/>
              </a:ext>
            </a:extLst>
          </p:cNvPr>
          <p:cNvSpPr txBox="1"/>
          <p:nvPr/>
        </p:nvSpPr>
        <p:spPr>
          <a:xfrm>
            <a:off x="341194" y="5045071"/>
            <a:ext cx="17523725" cy="776238"/>
          </a:xfrm>
          <a:prstGeom prst="rect">
            <a:avLst/>
          </a:prstGeom>
        </p:spPr>
        <p:txBody>
          <a:bodyPr wrap="square" lIns="0" tIns="0" rIns="0" bIns="0" rtlCol="0" anchor="t">
            <a:spAutoFit/>
          </a:bodyPr>
          <a:lstStyle/>
          <a:p>
            <a:pPr algn="ctr">
              <a:lnSpc>
                <a:spcPts val="5400"/>
              </a:lnSpc>
            </a:pPr>
            <a:r>
              <a:rPr lang="en-US" sz="8800">
                <a:solidFill>
                  <a:srgbClr val="262626"/>
                </a:solidFill>
                <a:latin typeface="Arial" panose="020B0604020202020204" pitchFamily="34" charset="0"/>
                <a:ea typeface="Public Sans"/>
                <a:cs typeface="Arial" panose="020B0604020202020204" pitchFamily="34" charset="0"/>
                <a:sym typeface="Public Sans"/>
              </a:rPr>
              <a:t>Services</a:t>
            </a:r>
          </a:p>
        </p:txBody>
      </p:sp>
      <p:grpSp>
        <p:nvGrpSpPr>
          <p:cNvPr id="3" name="Group 3">
            <a:extLst>
              <a:ext uri="{FF2B5EF4-FFF2-40B4-BE49-F238E27FC236}">
                <a16:creationId xmlns:a16="http://schemas.microsoft.com/office/drawing/2014/main" id="{CAD5BB5D-27F8-5909-3B69-FC1FF6D4658B}"/>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E65E0807-E9CE-9A34-7E01-661ED5A2F058}"/>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4A83FF92-164F-2130-C503-49A0E92FE543}"/>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5" name="Freeform 15" descr="Graphical user interface, application  Description automatically generated">
            <a:extLst>
              <a:ext uri="{FF2B5EF4-FFF2-40B4-BE49-F238E27FC236}">
                <a16:creationId xmlns:a16="http://schemas.microsoft.com/office/drawing/2014/main" id="{499CE0C4-632A-CD3E-DFA8-152CDC2E1EFA}"/>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1985536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Activity Dashboard</a:t>
            </a: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pic>
        <p:nvPicPr>
          <p:cNvPr id="7" name="Picture 6" descr="Graphical user interface, text, application, email&#10;&#10;AI-generated content may be incorrect.">
            <a:extLst>
              <a:ext uri="{FF2B5EF4-FFF2-40B4-BE49-F238E27FC236}">
                <a16:creationId xmlns:a16="http://schemas.microsoft.com/office/drawing/2014/main" id="{DF249CF5-C65A-9A04-56C5-DECC8637E4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515" y="3077527"/>
            <a:ext cx="10116962" cy="6916115"/>
          </a:xfrm>
          <a:prstGeom prst="rect">
            <a:avLst/>
          </a:prstGeom>
        </p:spPr>
      </p:pic>
      <p:sp>
        <p:nvSpPr>
          <p:cNvPr id="8" name="TextBox 7">
            <a:extLst>
              <a:ext uri="{FF2B5EF4-FFF2-40B4-BE49-F238E27FC236}">
                <a16:creationId xmlns:a16="http://schemas.microsoft.com/office/drawing/2014/main" id="{B7A4B10A-40F1-1B6F-5A00-72D427CE809F}"/>
              </a:ext>
            </a:extLst>
          </p:cNvPr>
          <p:cNvSpPr txBox="1"/>
          <p:nvPr/>
        </p:nvSpPr>
        <p:spPr>
          <a:xfrm>
            <a:off x="725510" y="201612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The Activity Dashboard displays user activity history across City agencies and applications</a:t>
            </a:r>
          </a:p>
        </p:txBody>
      </p:sp>
      <p:sp>
        <p:nvSpPr>
          <p:cNvPr id="6" name="TextBox 5">
            <a:extLst>
              <a:ext uri="{FF2B5EF4-FFF2-40B4-BE49-F238E27FC236}">
                <a16:creationId xmlns:a16="http://schemas.microsoft.com/office/drawing/2014/main" id="{A48C9733-2360-9612-A74C-5CBBEB51D997}"/>
              </a:ext>
            </a:extLst>
          </p:cNvPr>
          <p:cNvSpPr txBox="1"/>
          <p:nvPr/>
        </p:nvSpPr>
        <p:spPr>
          <a:xfrm>
            <a:off x="11608265" y="3072467"/>
            <a:ext cx="5819862"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Activity Dashboard</a:t>
            </a:r>
            <a:r>
              <a:rPr lang="en-US" sz="2800">
                <a:ea typeface="+mn-lt"/>
                <a:cs typeface="+mn-lt"/>
              </a:rPr>
              <a:t> </a:t>
            </a:r>
            <a:br>
              <a:rPr lang="en-US" sz="2800">
                <a:ea typeface="+mn-lt"/>
                <a:cs typeface="+mn-lt"/>
              </a:rPr>
            </a:br>
            <a:r>
              <a:rPr lang="en-US" sz="2800">
                <a:ea typeface="+mn-lt"/>
                <a:cs typeface="+mn-lt"/>
              </a:rPr>
              <a:t>The Activity Dashboard gives residents a single, consolidated view of their service history across all City agencies. Residents can track active applications, see completed interactions, and monitor status — without having to contact each agency individually.</a:t>
            </a:r>
          </a:p>
        </p:txBody>
      </p:sp>
      <p:sp>
        <p:nvSpPr>
          <p:cNvPr id="11" name="TextBox 10">
            <a:extLst>
              <a:ext uri="{FF2B5EF4-FFF2-40B4-BE49-F238E27FC236}">
                <a16:creationId xmlns:a16="http://schemas.microsoft.com/office/drawing/2014/main" id="{C9A09B91-6A33-3BA7-CB96-11967E408803}"/>
              </a:ext>
            </a:extLst>
          </p:cNvPr>
          <p:cNvSpPr txBox="1"/>
          <p:nvPr/>
        </p:nvSpPr>
        <p:spPr>
          <a:xfrm>
            <a:off x="11608265" y="8976220"/>
            <a:ext cx="581986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Consent Management – to allow users to provide approval to share their activity history</a:t>
            </a:r>
          </a:p>
        </p:txBody>
      </p:sp>
    </p:spTree>
    <p:extLst>
      <p:ext uri="{BB962C8B-B14F-4D97-AF65-F5344CB8AC3E}">
        <p14:creationId xmlns:p14="http://schemas.microsoft.com/office/powerpoint/2010/main" val="4191914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92A1B-347E-82FF-0A88-DBE1D8C995A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496FEB6-3CE8-E7F5-B153-8E820C2A93D4}"/>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Unified Profile</a:t>
            </a:r>
          </a:p>
        </p:txBody>
      </p:sp>
      <p:grpSp>
        <p:nvGrpSpPr>
          <p:cNvPr id="3" name="Group 3">
            <a:extLst>
              <a:ext uri="{FF2B5EF4-FFF2-40B4-BE49-F238E27FC236}">
                <a16:creationId xmlns:a16="http://schemas.microsoft.com/office/drawing/2014/main" id="{0518D40B-BEB4-4476-270F-C19087CA158C}"/>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1153CAC5-9615-B415-4EB9-A0203BC864DA}"/>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6273F797-E5FD-E4C4-D51B-A738CA9DC3C1}"/>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8A60F0E0-95DE-D508-A9E5-049884F5BE66}"/>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pic>
        <p:nvPicPr>
          <p:cNvPr id="7" name="Picture 6">
            <a:extLst>
              <a:ext uri="{FF2B5EF4-FFF2-40B4-BE49-F238E27FC236}">
                <a16:creationId xmlns:a16="http://schemas.microsoft.com/office/drawing/2014/main" id="{1482279C-0B84-836E-63B0-B1EE4D6353BB}"/>
              </a:ext>
            </a:extLst>
          </p:cNvPr>
          <p:cNvPicPr>
            <a:picLocks noChangeAspect="1"/>
          </p:cNvPicPr>
          <p:nvPr/>
        </p:nvPicPr>
        <p:blipFill>
          <a:blip r:embed="rId4"/>
          <a:stretch>
            <a:fillRect/>
          </a:stretch>
        </p:blipFill>
        <p:spPr>
          <a:xfrm>
            <a:off x="753591" y="3158316"/>
            <a:ext cx="7468642" cy="6658904"/>
          </a:xfrm>
          <a:prstGeom prst="rect">
            <a:avLst/>
          </a:prstGeom>
        </p:spPr>
      </p:pic>
      <p:sp>
        <p:nvSpPr>
          <p:cNvPr id="8" name="TextBox 7">
            <a:extLst>
              <a:ext uri="{FF2B5EF4-FFF2-40B4-BE49-F238E27FC236}">
                <a16:creationId xmlns:a16="http://schemas.microsoft.com/office/drawing/2014/main" id="{92BDC06A-3549-48EB-FE6F-487CC1A3324E}"/>
              </a:ext>
            </a:extLst>
          </p:cNvPr>
          <p:cNvSpPr txBox="1"/>
          <p:nvPr/>
        </p:nvSpPr>
        <p:spPr>
          <a:xfrm>
            <a:off x="725510" y="201612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Users can save commonly used data about themselves for use in other City applications</a:t>
            </a:r>
          </a:p>
        </p:txBody>
      </p:sp>
      <p:sp>
        <p:nvSpPr>
          <p:cNvPr id="11" name="TextBox 10">
            <a:extLst>
              <a:ext uri="{FF2B5EF4-FFF2-40B4-BE49-F238E27FC236}">
                <a16:creationId xmlns:a16="http://schemas.microsoft.com/office/drawing/2014/main" id="{E453BD83-EB1A-12CB-496A-CDDC5D7F983A}"/>
              </a:ext>
            </a:extLst>
          </p:cNvPr>
          <p:cNvSpPr txBox="1"/>
          <p:nvPr/>
        </p:nvSpPr>
        <p:spPr>
          <a:xfrm>
            <a:off x="11755072" y="3156357"/>
            <a:ext cx="581986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Unified Profile</a:t>
            </a:r>
            <a:r>
              <a:rPr lang="en-US" sz="2800">
                <a:ea typeface="+mn-lt"/>
                <a:cs typeface="+mn-lt"/>
              </a:rPr>
              <a:t> </a:t>
            </a:r>
            <a:br>
              <a:rPr lang="en-US" sz="2800">
                <a:ea typeface="+mn-lt"/>
                <a:cs typeface="+mn-lt"/>
              </a:rPr>
            </a:br>
            <a:r>
              <a:rPr lang="en-US" sz="2800">
                <a:ea typeface="+mn-lt"/>
                <a:cs typeface="+mn-lt"/>
              </a:rPr>
              <a:t>Unified Profiles store resident, business, (household data) in a single secure repository. Residents enter their information once, and it's automatically available across every integrated City service - eliminating repetitive data entry and reducing form abandonment.</a:t>
            </a:r>
            <a:endParaRPr lang="en-US">
              <a:ea typeface="+mn-lt"/>
              <a:cs typeface="+mn-lt"/>
            </a:endParaRPr>
          </a:p>
        </p:txBody>
      </p:sp>
      <p:sp>
        <p:nvSpPr>
          <p:cNvPr id="13" name="TextBox 12">
            <a:extLst>
              <a:ext uri="{FF2B5EF4-FFF2-40B4-BE49-F238E27FC236}">
                <a16:creationId xmlns:a16="http://schemas.microsoft.com/office/drawing/2014/main" id="{EEFB8146-79B7-69D2-95D0-DEFEFA85144F}"/>
              </a:ext>
            </a:extLst>
          </p:cNvPr>
          <p:cNvSpPr txBox="1"/>
          <p:nvPr/>
        </p:nvSpPr>
        <p:spPr>
          <a:xfrm>
            <a:off x="11755072" y="9102055"/>
            <a:ext cx="58198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NYC.ID - Identify Management</a:t>
            </a:r>
          </a:p>
        </p:txBody>
      </p:sp>
    </p:spTree>
    <p:extLst>
      <p:ext uri="{BB962C8B-B14F-4D97-AF65-F5344CB8AC3E}">
        <p14:creationId xmlns:p14="http://schemas.microsoft.com/office/powerpoint/2010/main" val="1029351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0E34-2490-401F-51F5-32FF19D7C78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06C3CE7-4EDD-28C9-720D-EA521948B4FD}"/>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SMS and Email Messaging</a:t>
            </a:r>
          </a:p>
        </p:txBody>
      </p:sp>
      <p:grpSp>
        <p:nvGrpSpPr>
          <p:cNvPr id="3" name="Group 3">
            <a:extLst>
              <a:ext uri="{FF2B5EF4-FFF2-40B4-BE49-F238E27FC236}">
                <a16:creationId xmlns:a16="http://schemas.microsoft.com/office/drawing/2014/main" id="{318814A8-94F9-FD33-702C-B457B2555316}"/>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7A2443EE-F45F-6890-DBED-BB2AF3E5B86F}"/>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474C7207-2399-35F7-1BA7-D4B729C8BC99}"/>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065B66E7-2590-1A00-CB8A-6D819D4EB97B}"/>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pic>
        <p:nvPicPr>
          <p:cNvPr id="7" name="Picture 6">
            <a:extLst>
              <a:ext uri="{FF2B5EF4-FFF2-40B4-BE49-F238E27FC236}">
                <a16:creationId xmlns:a16="http://schemas.microsoft.com/office/drawing/2014/main" id="{3EA3CCDA-7401-8C79-A710-622C98FBCE3B}"/>
              </a:ext>
            </a:extLst>
          </p:cNvPr>
          <p:cNvPicPr>
            <a:picLocks noChangeAspect="1"/>
          </p:cNvPicPr>
          <p:nvPr/>
        </p:nvPicPr>
        <p:blipFill>
          <a:blip r:embed="rId4"/>
          <a:stretch>
            <a:fillRect/>
          </a:stretch>
        </p:blipFill>
        <p:spPr>
          <a:xfrm>
            <a:off x="753591" y="3031703"/>
            <a:ext cx="9849084" cy="6071353"/>
          </a:xfrm>
          <a:prstGeom prst="rect">
            <a:avLst/>
          </a:prstGeom>
        </p:spPr>
      </p:pic>
      <p:sp>
        <p:nvSpPr>
          <p:cNvPr id="8" name="TextBox 7">
            <a:extLst>
              <a:ext uri="{FF2B5EF4-FFF2-40B4-BE49-F238E27FC236}">
                <a16:creationId xmlns:a16="http://schemas.microsoft.com/office/drawing/2014/main" id="{15E0D93E-A11D-7102-47BA-8974E5BFE10A}"/>
              </a:ext>
            </a:extLst>
          </p:cNvPr>
          <p:cNvSpPr txBox="1"/>
          <p:nvPr/>
        </p:nvSpPr>
        <p:spPr>
          <a:xfrm>
            <a:off x="725510" y="215260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The messaging service supports outbound email and SMS messaging to users</a:t>
            </a:r>
          </a:p>
        </p:txBody>
      </p:sp>
      <p:sp>
        <p:nvSpPr>
          <p:cNvPr id="11" name="TextBox 10">
            <a:extLst>
              <a:ext uri="{FF2B5EF4-FFF2-40B4-BE49-F238E27FC236}">
                <a16:creationId xmlns:a16="http://schemas.microsoft.com/office/drawing/2014/main" id="{98FE2774-D498-68B1-82D5-19121B7D1AC2}"/>
              </a:ext>
            </a:extLst>
          </p:cNvPr>
          <p:cNvSpPr txBox="1"/>
          <p:nvPr/>
        </p:nvSpPr>
        <p:spPr>
          <a:xfrm>
            <a:off x="11755072" y="3156357"/>
            <a:ext cx="5819862"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SMS and Email Messaging</a:t>
            </a:r>
            <a:r>
              <a:rPr lang="en-US" sz="2800">
                <a:ea typeface="+mn-lt"/>
                <a:cs typeface="+mn-lt"/>
              </a:rPr>
              <a:t> </a:t>
            </a:r>
            <a:endParaRPr lang="en-US">
              <a:ea typeface="+mn-lt"/>
              <a:cs typeface="+mn-lt"/>
            </a:endParaRPr>
          </a:p>
          <a:p>
            <a:r>
              <a:rPr lang="en-US" sz="2800">
                <a:ea typeface="+mn-lt"/>
                <a:cs typeface="+mn-lt"/>
              </a:rPr>
              <a:t>The Messaging service lets agencies send timely outbound SMS and email notifications to residents without building their own messaging infrastructure. Agencies configure templates and trigger notifications via the Common Services API, ensuring consistent City-branded communications.</a:t>
            </a:r>
            <a:endParaRPr lang="en-US">
              <a:ea typeface="+mn-lt"/>
              <a:cs typeface="+mn-lt"/>
            </a:endParaRPr>
          </a:p>
        </p:txBody>
      </p:sp>
      <p:sp>
        <p:nvSpPr>
          <p:cNvPr id="13" name="TextBox 12">
            <a:extLst>
              <a:ext uri="{FF2B5EF4-FFF2-40B4-BE49-F238E27FC236}">
                <a16:creationId xmlns:a16="http://schemas.microsoft.com/office/drawing/2014/main" id="{CC6255D9-6350-3D57-AFA5-C377A3235B82}"/>
              </a:ext>
            </a:extLst>
          </p:cNvPr>
          <p:cNvSpPr txBox="1"/>
          <p:nvPr/>
        </p:nvSpPr>
        <p:spPr>
          <a:xfrm>
            <a:off x="11755072" y="8598716"/>
            <a:ext cx="581986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User Profile</a:t>
            </a:r>
            <a:r>
              <a:rPr lang="en-US" sz="2000" b="1">
                <a:ea typeface="+mn-lt"/>
                <a:cs typeface="+mn-lt"/>
              </a:rPr>
              <a:t> </a:t>
            </a:r>
            <a:r>
              <a:rPr lang="en-US" sz="2000">
                <a:ea typeface="+mn-lt"/>
                <a:cs typeface="+mn-lt"/>
              </a:rPr>
              <a:t>is required for SMS messaging to allow users to provide and validate a mobile phone number</a:t>
            </a:r>
          </a:p>
        </p:txBody>
      </p:sp>
    </p:spTree>
    <p:extLst>
      <p:ext uri="{BB962C8B-B14F-4D97-AF65-F5344CB8AC3E}">
        <p14:creationId xmlns:p14="http://schemas.microsoft.com/office/powerpoint/2010/main" val="1146194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3CE5-9BC3-58F5-C557-C2F68DE05B4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BFE946D-4703-16F7-D5FB-5A781447D166}"/>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User Document Vault</a:t>
            </a:r>
          </a:p>
        </p:txBody>
      </p:sp>
      <p:grpSp>
        <p:nvGrpSpPr>
          <p:cNvPr id="3" name="Group 3">
            <a:extLst>
              <a:ext uri="{FF2B5EF4-FFF2-40B4-BE49-F238E27FC236}">
                <a16:creationId xmlns:a16="http://schemas.microsoft.com/office/drawing/2014/main" id="{9F70EC37-BC89-D95B-63C5-6D5AA2ECEF52}"/>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D9255121-D078-717B-C98D-A15FA34F6F30}"/>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560733A6-E73A-45A5-0032-DAC32ED1E660}"/>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4468AEF9-0EF3-2B7F-4455-A40EFB5BB752}"/>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pic>
        <p:nvPicPr>
          <p:cNvPr id="7" name="Picture 6" descr="Graphical user interface, table&#10;&#10;AI-generated content may be incorrect.">
            <a:extLst>
              <a:ext uri="{FF2B5EF4-FFF2-40B4-BE49-F238E27FC236}">
                <a16:creationId xmlns:a16="http://schemas.microsoft.com/office/drawing/2014/main" id="{EFBE5620-FC6F-1FA6-8E60-BD497AC89C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510" y="2893983"/>
            <a:ext cx="11019521" cy="4762412"/>
          </a:xfrm>
          <a:prstGeom prst="rect">
            <a:avLst/>
          </a:prstGeom>
        </p:spPr>
      </p:pic>
      <p:sp>
        <p:nvSpPr>
          <p:cNvPr id="11" name="TextBox 10">
            <a:extLst>
              <a:ext uri="{FF2B5EF4-FFF2-40B4-BE49-F238E27FC236}">
                <a16:creationId xmlns:a16="http://schemas.microsoft.com/office/drawing/2014/main" id="{FE427AAD-C3C0-8829-D316-6FBC7CCF64AD}"/>
              </a:ext>
            </a:extLst>
          </p:cNvPr>
          <p:cNvSpPr txBox="1"/>
          <p:nvPr/>
        </p:nvSpPr>
        <p:spPr>
          <a:xfrm>
            <a:off x="725510" y="201612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Users can save commonly used documents for re-use in other City applications</a:t>
            </a:r>
          </a:p>
        </p:txBody>
      </p:sp>
      <p:sp>
        <p:nvSpPr>
          <p:cNvPr id="8" name="TextBox 7">
            <a:extLst>
              <a:ext uri="{FF2B5EF4-FFF2-40B4-BE49-F238E27FC236}">
                <a16:creationId xmlns:a16="http://schemas.microsoft.com/office/drawing/2014/main" id="{8AE07832-EB5E-0854-E94C-EBAF0DCAFF16}"/>
              </a:ext>
            </a:extLst>
          </p:cNvPr>
          <p:cNvSpPr txBox="1"/>
          <p:nvPr/>
        </p:nvSpPr>
        <p:spPr>
          <a:xfrm>
            <a:off x="11964797" y="3072468"/>
            <a:ext cx="5819862"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User Document Vault</a:t>
            </a:r>
            <a:r>
              <a:rPr lang="en-US" sz="2800">
                <a:ea typeface="+mn-lt"/>
                <a:cs typeface="+mn-lt"/>
              </a:rPr>
              <a:t> </a:t>
            </a:r>
            <a:endParaRPr lang="en-US">
              <a:ea typeface="+mn-lt"/>
              <a:cs typeface="+mn-lt"/>
            </a:endParaRPr>
          </a:p>
          <a:p>
            <a:r>
              <a:rPr lang="en-US" sz="2800">
                <a:ea typeface="+mn-lt"/>
                <a:cs typeface="+mn-lt"/>
              </a:rPr>
              <a:t>The Document Vault lets residents securely store important documents - birth certificates, proof of residency, permits - once and reuse them across multiple City services. Agencies can request documents from the vault instead of asking residents to re-upload, with built-in expiration alerts to keep documents current.</a:t>
            </a:r>
            <a:endParaRPr lang="en-US">
              <a:ea typeface="+mn-lt"/>
              <a:cs typeface="+mn-lt"/>
            </a:endParaRPr>
          </a:p>
        </p:txBody>
      </p:sp>
      <p:sp>
        <p:nvSpPr>
          <p:cNvPr id="13" name="TextBox 12">
            <a:extLst>
              <a:ext uri="{FF2B5EF4-FFF2-40B4-BE49-F238E27FC236}">
                <a16:creationId xmlns:a16="http://schemas.microsoft.com/office/drawing/2014/main" id="{A42D70F4-D0F0-80CB-EC68-6219BB400950}"/>
              </a:ext>
            </a:extLst>
          </p:cNvPr>
          <p:cNvSpPr txBox="1"/>
          <p:nvPr/>
        </p:nvSpPr>
        <p:spPr>
          <a:xfrm>
            <a:off x="11964797" y="9021551"/>
            <a:ext cx="58198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latin typeface="Calibri"/>
                <a:ea typeface="+mn-lt"/>
                <a:cs typeface="Calibri"/>
              </a:rPr>
              <a:t>Unified Profile for persistent account documents</a:t>
            </a:r>
            <a:endParaRPr lang="en-US" sz="2000">
              <a:ea typeface="+mn-lt"/>
              <a:cs typeface="+mn-lt"/>
            </a:endParaRPr>
          </a:p>
        </p:txBody>
      </p:sp>
      <p:sp>
        <p:nvSpPr>
          <p:cNvPr id="9" name="TextBox 8">
            <a:extLst>
              <a:ext uri="{FF2B5EF4-FFF2-40B4-BE49-F238E27FC236}">
                <a16:creationId xmlns:a16="http://schemas.microsoft.com/office/drawing/2014/main" id="{06CB3C24-0420-07BB-6094-3CC26788C20B}"/>
              </a:ext>
            </a:extLst>
          </p:cNvPr>
          <p:cNvSpPr txBox="1"/>
          <p:nvPr/>
        </p:nvSpPr>
        <p:spPr>
          <a:xfrm>
            <a:off x="743103" y="9014996"/>
            <a:ext cx="1100912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Document Services</a:t>
            </a:r>
            <a:r>
              <a:rPr lang="en-US" sz="2000">
                <a:ea typeface="+mn-lt"/>
                <a:cs typeface="+mn-lt"/>
              </a:rPr>
              <a:t> handles file upload, virus scanning, and storage on behalf of agencies through shared infrastructure. Agencies integrate once and offload all document management — no need to build or maintain their own file handling systems.</a:t>
            </a:r>
            <a:endParaRPr lang="en-US"/>
          </a:p>
          <a:p>
            <a:endParaRPr lang="en-US" sz="2800">
              <a:ea typeface="+mn-lt"/>
              <a:cs typeface="+mn-lt"/>
            </a:endParaRPr>
          </a:p>
        </p:txBody>
      </p:sp>
    </p:spTree>
    <p:extLst>
      <p:ext uri="{BB962C8B-B14F-4D97-AF65-F5344CB8AC3E}">
        <p14:creationId xmlns:p14="http://schemas.microsoft.com/office/powerpoint/2010/main" val="156778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FFEC5E-51F2-E453-243C-D0135F5D189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37BE8EE-CD48-A1D9-2BAB-3204F76D888D}"/>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Document Services</a:t>
            </a:r>
          </a:p>
        </p:txBody>
      </p:sp>
      <p:grpSp>
        <p:nvGrpSpPr>
          <p:cNvPr id="3" name="Group 3">
            <a:extLst>
              <a:ext uri="{FF2B5EF4-FFF2-40B4-BE49-F238E27FC236}">
                <a16:creationId xmlns:a16="http://schemas.microsoft.com/office/drawing/2014/main" id="{D8663B5A-1C98-9D1E-30EA-9F68197881AC}"/>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1796F410-35A7-327B-A5AD-0E40F266B4D6}"/>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06B016A0-BC1C-4255-A217-F11CDA28FDE7}"/>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B1031E57-F86A-25ED-1426-852EA958C10B}"/>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
        <p:nvSpPr>
          <p:cNvPr id="7" name="TextBox 6">
            <a:extLst>
              <a:ext uri="{FF2B5EF4-FFF2-40B4-BE49-F238E27FC236}">
                <a16:creationId xmlns:a16="http://schemas.microsoft.com/office/drawing/2014/main" id="{F93A6222-B277-26C3-E55D-D36EF10C3C7C}"/>
              </a:ext>
            </a:extLst>
          </p:cNvPr>
          <p:cNvSpPr txBox="1"/>
          <p:nvPr/>
        </p:nvSpPr>
        <p:spPr>
          <a:xfrm>
            <a:off x="725510" y="201612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Agencies can “outsource” file upload, virus scanning, and storage through Document Services </a:t>
            </a:r>
          </a:p>
        </p:txBody>
      </p:sp>
      <p:sp>
        <p:nvSpPr>
          <p:cNvPr id="8" name="TextBox 7">
            <a:extLst>
              <a:ext uri="{FF2B5EF4-FFF2-40B4-BE49-F238E27FC236}">
                <a16:creationId xmlns:a16="http://schemas.microsoft.com/office/drawing/2014/main" id="{67B42F86-0F14-907C-ADC5-BA9FD4A8CED0}"/>
              </a:ext>
            </a:extLst>
          </p:cNvPr>
          <p:cNvSpPr txBox="1"/>
          <p:nvPr/>
        </p:nvSpPr>
        <p:spPr>
          <a:xfrm>
            <a:off x="818996" y="3083758"/>
            <a:ext cx="9853553" cy="3025444"/>
          </a:xfrm>
          <a:prstGeom prst="rect">
            <a:avLst/>
          </a:prstGeom>
        </p:spPr>
        <p:txBody>
          <a:bodyPr wrap="square" lIns="0" tIns="0" rIns="0" bIns="0" rtlCol="0" anchor="t">
            <a:spAutoFit/>
          </a:bodyPr>
          <a:lstStyle/>
          <a:p>
            <a:pPr>
              <a:lnSpc>
                <a:spcPts val="4004"/>
              </a:lnSpc>
            </a:pPr>
            <a:r>
              <a:rPr lang="en-US" sz="2600" b="1">
                <a:solidFill>
                  <a:srgbClr val="000000"/>
                </a:solidFill>
                <a:latin typeface="Arial" panose="020B0604020202020204" pitchFamily="34" charset="0"/>
                <a:ea typeface="Roboto Bold"/>
                <a:cs typeface="Arial" panose="020B0604020202020204" pitchFamily="34" charset="0"/>
                <a:sym typeface="Roboto Bold"/>
              </a:rPr>
              <a:t>Document Services Features:</a:t>
            </a:r>
          </a:p>
          <a:p>
            <a:pPr marL="457200" indent="-457200">
              <a:lnSpc>
                <a:spcPts val="4004"/>
              </a:lnSpc>
              <a:buFont typeface="Arial" panose="020B0604020202020204" pitchFamily="34" charset="0"/>
              <a:buChar char="•"/>
            </a:pPr>
            <a:r>
              <a:rPr lang="en-US" sz="2600" b="1">
                <a:solidFill>
                  <a:srgbClr val="000000"/>
                </a:solidFill>
                <a:latin typeface="Arial" panose="020B0604020202020204" pitchFamily="34" charset="0"/>
                <a:ea typeface="Roboto Bold"/>
                <a:cs typeface="Arial" panose="020B0604020202020204" pitchFamily="34" charset="0"/>
                <a:sym typeface="Roboto Bold"/>
              </a:rPr>
              <a:t>Users can upload files required by agency applications</a:t>
            </a:r>
          </a:p>
          <a:p>
            <a:pPr marL="457200" indent="-457200">
              <a:lnSpc>
                <a:spcPts val="4004"/>
              </a:lnSpc>
              <a:buFont typeface="Arial" panose="020B0604020202020204" pitchFamily="34" charset="0"/>
              <a:buChar char="•"/>
            </a:pPr>
            <a:r>
              <a:rPr lang="en-US" sz="2600" b="1">
                <a:solidFill>
                  <a:srgbClr val="000000"/>
                </a:solidFill>
                <a:latin typeface="Arial" panose="020B0604020202020204" pitchFamily="34" charset="0"/>
                <a:ea typeface="Roboto Bold"/>
                <a:cs typeface="Arial" panose="020B0604020202020204" pitchFamily="34" charset="0"/>
                <a:sym typeface="Roboto Bold"/>
              </a:rPr>
              <a:t>Virus scanning handled natively within the service</a:t>
            </a:r>
          </a:p>
          <a:p>
            <a:pPr marL="457200" indent="-457200">
              <a:lnSpc>
                <a:spcPts val="4004"/>
              </a:lnSpc>
              <a:buFont typeface="Arial" panose="020B0604020202020204" pitchFamily="34" charset="0"/>
              <a:buChar char="•"/>
            </a:pPr>
            <a:r>
              <a:rPr lang="en-US" sz="2600" b="1">
                <a:solidFill>
                  <a:srgbClr val="000000"/>
                </a:solidFill>
                <a:latin typeface="Arial" panose="020B0604020202020204" pitchFamily="34" charset="0"/>
                <a:ea typeface="Roboto Bold"/>
                <a:cs typeface="Arial" panose="020B0604020202020204" pitchFamily="34" charset="0"/>
                <a:sym typeface="Roboto Bold"/>
              </a:rPr>
              <a:t>File storage included</a:t>
            </a:r>
          </a:p>
          <a:p>
            <a:pPr marL="457200" indent="-457200">
              <a:lnSpc>
                <a:spcPts val="4004"/>
              </a:lnSpc>
              <a:buFont typeface="Arial" panose="020B0604020202020204" pitchFamily="34" charset="0"/>
              <a:buChar char="•"/>
            </a:pPr>
            <a:endParaRPr lang="en-US" sz="2600" b="1">
              <a:solidFill>
                <a:srgbClr val="000000"/>
              </a:solidFill>
              <a:latin typeface="Arial" panose="020B0604020202020204" pitchFamily="34" charset="0"/>
              <a:ea typeface="Roboto Bold"/>
              <a:cs typeface="Arial" panose="020B0604020202020204" pitchFamily="34" charset="0"/>
              <a:sym typeface="Roboto Bold"/>
            </a:endParaRPr>
          </a:p>
          <a:p>
            <a:pPr marL="457200" indent="-457200">
              <a:lnSpc>
                <a:spcPts val="4004"/>
              </a:lnSpc>
              <a:buFont typeface="Arial" panose="020B0604020202020204" pitchFamily="34" charset="0"/>
              <a:buChar char="•"/>
            </a:pPr>
            <a:r>
              <a:rPr lang="en-US" sz="2600" b="1">
                <a:solidFill>
                  <a:srgbClr val="000000"/>
                </a:solidFill>
                <a:highlight>
                  <a:srgbClr val="FFFF00"/>
                </a:highlight>
                <a:latin typeface="Arial" panose="020B0604020202020204" pitchFamily="34" charset="0"/>
                <a:ea typeface="Roboto Bold"/>
                <a:cs typeface="Arial" panose="020B0604020202020204" pitchFamily="34" charset="0"/>
                <a:sym typeface="Roboto Bold"/>
              </a:rPr>
              <a:t>(cost recovery?)</a:t>
            </a:r>
          </a:p>
        </p:txBody>
      </p:sp>
      <p:sp>
        <p:nvSpPr>
          <p:cNvPr id="11" name="TextBox 10">
            <a:extLst>
              <a:ext uri="{FF2B5EF4-FFF2-40B4-BE49-F238E27FC236}">
                <a16:creationId xmlns:a16="http://schemas.microsoft.com/office/drawing/2014/main" id="{6EA4EAA8-3F43-FD57-896A-51EF68F149BC}"/>
              </a:ext>
            </a:extLst>
          </p:cNvPr>
          <p:cNvSpPr txBox="1"/>
          <p:nvPr/>
        </p:nvSpPr>
        <p:spPr>
          <a:xfrm>
            <a:off x="11964797" y="3072468"/>
            <a:ext cx="581986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r>
              <a:rPr lang="en-US" sz="2800" b="1">
                <a:ea typeface="+mn-lt"/>
                <a:cs typeface="+mn-lt"/>
              </a:rPr>
              <a:t>Document Services</a:t>
            </a:r>
            <a:r>
              <a:rPr lang="en-US" sz="2800">
                <a:ea typeface="+mn-lt"/>
                <a:cs typeface="+mn-lt"/>
              </a:rPr>
              <a:t> </a:t>
            </a:r>
            <a:endParaRPr lang="en-US">
              <a:ea typeface="+mn-lt"/>
              <a:cs typeface="+mn-lt"/>
            </a:endParaRPr>
          </a:p>
          <a:p>
            <a:r>
              <a:rPr lang="en-US" sz="2800">
                <a:ea typeface="+mn-lt"/>
                <a:cs typeface="+mn-lt"/>
              </a:rPr>
              <a:t>Document Services handles file upload, virus scanning, and storage on behalf of agencies through shared infrastructure. Agencies integrate once and offload all document management — no need to build or maintain their own file handling systems.</a:t>
            </a:r>
            <a:endParaRPr lang="en-US">
              <a:ea typeface="+mn-lt"/>
              <a:cs typeface="+mn-lt"/>
            </a:endParaRPr>
          </a:p>
          <a:p>
            <a:endParaRPr lang="en-US" sz="2800">
              <a:ea typeface="+mn-lt"/>
              <a:cs typeface="+mn-lt"/>
            </a:endParaRPr>
          </a:p>
        </p:txBody>
      </p:sp>
      <p:sp>
        <p:nvSpPr>
          <p:cNvPr id="13" name="TextBox 12">
            <a:extLst>
              <a:ext uri="{FF2B5EF4-FFF2-40B4-BE49-F238E27FC236}">
                <a16:creationId xmlns:a16="http://schemas.microsoft.com/office/drawing/2014/main" id="{2E47004F-AB3E-AFC8-FCE9-A5B1EF428D0D}"/>
              </a:ext>
            </a:extLst>
          </p:cNvPr>
          <p:cNvSpPr txBox="1"/>
          <p:nvPr/>
        </p:nvSpPr>
        <p:spPr>
          <a:xfrm>
            <a:off x="11964797" y="9081083"/>
            <a:ext cx="58198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latin typeface="Calibri"/>
                <a:ea typeface="+mn-lt"/>
                <a:cs typeface="Calibri"/>
              </a:rPr>
              <a:t>Unified Profile for connected file storage</a:t>
            </a:r>
            <a:endParaRPr lang="en-US" sz="2000">
              <a:ea typeface="+mn-lt"/>
              <a:cs typeface="+mn-lt"/>
            </a:endParaRPr>
          </a:p>
        </p:txBody>
      </p:sp>
    </p:spTree>
    <p:extLst>
      <p:ext uri="{BB962C8B-B14F-4D97-AF65-F5344CB8AC3E}">
        <p14:creationId xmlns:p14="http://schemas.microsoft.com/office/powerpoint/2010/main" val="2397795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7F0A81-A0DB-B4C0-B0DF-68A427EDFDF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F999C85-1F15-4C7D-A5D9-EE9290345F1A}"/>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UI Library</a:t>
            </a:r>
          </a:p>
        </p:txBody>
      </p:sp>
      <p:grpSp>
        <p:nvGrpSpPr>
          <p:cNvPr id="3" name="Group 3">
            <a:extLst>
              <a:ext uri="{FF2B5EF4-FFF2-40B4-BE49-F238E27FC236}">
                <a16:creationId xmlns:a16="http://schemas.microsoft.com/office/drawing/2014/main" id="{A2B39671-2899-FD19-53E1-B2CAF8915A7A}"/>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3E5F2AA5-90F2-264A-E6D7-36D600F930CA}"/>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E7324D35-CD1A-1B60-8A29-A723D4076C4D}"/>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D6131D0D-8AF1-C25C-A190-7ABA23DDB567}"/>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
        <p:nvSpPr>
          <p:cNvPr id="6" name="TextBox 7">
            <a:extLst>
              <a:ext uri="{FF2B5EF4-FFF2-40B4-BE49-F238E27FC236}">
                <a16:creationId xmlns:a16="http://schemas.microsoft.com/office/drawing/2014/main" id="{AB5E6550-1236-9A9D-B62E-8D5C07E3FFD1}"/>
              </a:ext>
            </a:extLst>
          </p:cNvPr>
          <p:cNvSpPr txBox="1"/>
          <p:nvPr/>
        </p:nvSpPr>
        <p:spPr>
          <a:xfrm>
            <a:off x="11721313" y="3067836"/>
            <a:ext cx="5573661" cy="973600"/>
          </a:xfrm>
          <a:prstGeom prst="rect">
            <a:avLst/>
          </a:prstGeom>
        </p:spPr>
        <p:txBody>
          <a:bodyPr lIns="0" tIns="0" rIns="0" bIns="0" rtlCol="0" anchor="t">
            <a:spAutoFit/>
          </a:bodyPr>
          <a:lstStyle/>
          <a:p>
            <a:pPr algn="l">
              <a:lnSpc>
                <a:spcPts val="4004"/>
              </a:lnSpc>
            </a:pPr>
            <a:r>
              <a:rPr lang="en-US" sz="2600" b="1">
                <a:solidFill>
                  <a:srgbClr val="000000"/>
                </a:solidFill>
                <a:latin typeface="Arial"/>
                <a:ea typeface="Roboto Bold"/>
                <a:cs typeface="Arial"/>
                <a:sym typeface="Roboto Bold"/>
              </a:rPr>
              <a:t>Other Services Dependencies:</a:t>
            </a:r>
          </a:p>
          <a:p>
            <a:pPr algn="l">
              <a:lnSpc>
                <a:spcPts val="4004"/>
              </a:lnSpc>
            </a:pPr>
            <a:endParaRPr lang="en-US" sz="2600" b="1">
              <a:solidFill>
                <a:srgbClr val="000000"/>
              </a:solidFill>
              <a:latin typeface="Arial" panose="020B0604020202020204" pitchFamily="34" charset="0"/>
              <a:ea typeface="Roboto Bold"/>
              <a:cs typeface="Arial" panose="020B0604020202020204" pitchFamily="34" charset="0"/>
              <a:sym typeface="Roboto Bold"/>
            </a:endParaRPr>
          </a:p>
        </p:txBody>
      </p:sp>
    </p:spTree>
    <p:extLst>
      <p:ext uri="{BB962C8B-B14F-4D97-AF65-F5344CB8AC3E}">
        <p14:creationId xmlns:p14="http://schemas.microsoft.com/office/powerpoint/2010/main" val="3570868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4391-EE74-9665-F538-BA79465DF48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63DB07E-9B72-AF29-D355-87755D03567D}"/>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Recommendations</a:t>
            </a:r>
          </a:p>
        </p:txBody>
      </p:sp>
      <p:grpSp>
        <p:nvGrpSpPr>
          <p:cNvPr id="3" name="Group 3">
            <a:extLst>
              <a:ext uri="{FF2B5EF4-FFF2-40B4-BE49-F238E27FC236}">
                <a16:creationId xmlns:a16="http://schemas.microsoft.com/office/drawing/2014/main" id="{3B0E7E91-07F2-794F-3163-072CD95D69AE}"/>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546DC72A-5F9E-4409-4907-22CD41743985}"/>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BE6BD05E-58A7-5249-717A-8838BF5EE578}"/>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681FD474-3C6F-2149-AFCE-E460289FAD8D}"/>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pic>
        <p:nvPicPr>
          <p:cNvPr id="7" name="Picture 6" descr="Graphical user interface, text, application, email&#10;&#10;AI-generated content may be incorrect.">
            <a:extLst>
              <a:ext uri="{FF2B5EF4-FFF2-40B4-BE49-F238E27FC236}">
                <a16:creationId xmlns:a16="http://schemas.microsoft.com/office/drawing/2014/main" id="{316A87C8-55BA-04CC-5980-DB1E3DA899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703" y="3069983"/>
            <a:ext cx="8516527" cy="6792533"/>
          </a:xfrm>
          <a:prstGeom prst="rect">
            <a:avLst/>
          </a:prstGeom>
        </p:spPr>
      </p:pic>
      <p:sp>
        <p:nvSpPr>
          <p:cNvPr id="8" name="TextBox 7">
            <a:extLst>
              <a:ext uri="{FF2B5EF4-FFF2-40B4-BE49-F238E27FC236}">
                <a16:creationId xmlns:a16="http://schemas.microsoft.com/office/drawing/2014/main" id="{5DE15213-F551-E899-1C55-5074FCA3B8D9}"/>
              </a:ext>
            </a:extLst>
          </p:cNvPr>
          <p:cNvSpPr txBox="1"/>
          <p:nvPr/>
        </p:nvSpPr>
        <p:spPr>
          <a:xfrm>
            <a:off x="725510" y="2152605"/>
            <a:ext cx="168751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Users can opt to receive Recommendations based on information they have provided in their Profile or other City applications</a:t>
            </a:r>
          </a:p>
        </p:txBody>
      </p:sp>
      <p:sp>
        <p:nvSpPr>
          <p:cNvPr id="11" name="TextBox 10">
            <a:extLst>
              <a:ext uri="{FF2B5EF4-FFF2-40B4-BE49-F238E27FC236}">
                <a16:creationId xmlns:a16="http://schemas.microsoft.com/office/drawing/2014/main" id="{C3F2E01E-26CC-2B61-4914-DF72BC5A89E6}"/>
              </a:ext>
            </a:extLst>
          </p:cNvPr>
          <p:cNvSpPr txBox="1"/>
          <p:nvPr/>
        </p:nvSpPr>
        <p:spPr>
          <a:xfrm>
            <a:off x="11776044" y="3072467"/>
            <a:ext cx="5819862"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r>
              <a:rPr lang="en-US" sz="2800" b="1">
                <a:ea typeface="+mn-lt"/>
                <a:cs typeface="+mn-lt"/>
              </a:rPr>
              <a:t>Recommendations</a:t>
            </a:r>
            <a:r>
              <a:rPr lang="en-US" sz="2800">
                <a:ea typeface="+mn-lt"/>
                <a:cs typeface="+mn-lt"/>
              </a:rPr>
              <a:t> </a:t>
            </a:r>
            <a:endParaRPr lang="en-US">
              <a:ea typeface="+mn-lt"/>
              <a:cs typeface="+mn-lt"/>
            </a:endParaRPr>
          </a:p>
          <a:p>
            <a:r>
              <a:rPr lang="en-US" sz="2800">
                <a:ea typeface="+mn-lt"/>
                <a:cs typeface="+mn-lt"/>
              </a:rPr>
              <a:t>The Recommendations service proactively surfaces relevant City programs and benefits to residents based on their profile data and service history. Residents opt in and receive personalized suggestions for services they may not have discovered on their own, driving enrollment for agency programs.</a:t>
            </a:r>
            <a:endParaRPr lang="en-US">
              <a:ea typeface="+mn-lt"/>
              <a:cs typeface="+mn-lt"/>
            </a:endParaRPr>
          </a:p>
          <a:p>
            <a:endParaRPr lang="en-US" sz="2800">
              <a:ea typeface="+mn-lt"/>
              <a:cs typeface="+mn-lt"/>
            </a:endParaRPr>
          </a:p>
        </p:txBody>
      </p:sp>
      <p:sp>
        <p:nvSpPr>
          <p:cNvPr id="13" name="TextBox 12">
            <a:extLst>
              <a:ext uri="{FF2B5EF4-FFF2-40B4-BE49-F238E27FC236}">
                <a16:creationId xmlns:a16="http://schemas.microsoft.com/office/drawing/2014/main" id="{D96C050F-7DED-CB79-0560-8AD057E318B0}"/>
              </a:ext>
            </a:extLst>
          </p:cNvPr>
          <p:cNvSpPr txBox="1"/>
          <p:nvPr/>
        </p:nvSpPr>
        <p:spPr>
          <a:xfrm>
            <a:off x="11776044" y="8546284"/>
            <a:ext cx="581986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Unified Profile is recommended to personalize recommendations based on resident data and service history</a:t>
            </a:r>
          </a:p>
        </p:txBody>
      </p:sp>
    </p:spTree>
    <p:extLst>
      <p:ext uri="{BB962C8B-B14F-4D97-AF65-F5344CB8AC3E}">
        <p14:creationId xmlns:p14="http://schemas.microsoft.com/office/powerpoint/2010/main" val="1353315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D1946-A7F6-D696-CF55-7DD7EDEBA2B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F0C6F9A-3508-9F1A-9C14-92294C4AD44C}"/>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Forms Builder / Common Intake</a:t>
            </a:r>
          </a:p>
        </p:txBody>
      </p:sp>
      <p:grpSp>
        <p:nvGrpSpPr>
          <p:cNvPr id="3" name="Group 3">
            <a:extLst>
              <a:ext uri="{FF2B5EF4-FFF2-40B4-BE49-F238E27FC236}">
                <a16:creationId xmlns:a16="http://schemas.microsoft.com/office/drawing/2014/main" id="{C7C82113-2752-C431-2DC9-AA88996B8A47}"/>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142E71BE-0AE9-7F8C-E59F-CCB3704D93CC}"/>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EB0F551A-344D-A679-10A0-3BA04239EA3D}"/>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119132E9-33E0-7C56-962F-69259328DADA}"/>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
        <p:nvSpPr>
          <p:cNvPr id="11" name="TextBox 10">
            <a:extLst>
              <a:ext uri="{FF2B5EF4-FFF2-40B4-BE49-F238E27FC236}">
                <a16:creationId xmlns:a16="http://schemas.microsoft.com/office/drawing/2014/main" id="{D879DE94-A62F-89E7-6441-9A499EDD494F}"/>
              </a:ext>
            </a:extLst>
          </p:cNvPr>
          <p:cNvSpPr txBox="1"/>
          <p:nvPr/>
        </p:nvSpPr>
        <p:spPr>
          <a:xfrm>
            <a:off x="725510" y="2152605"/>
            <a:ext cx="168751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A JSON-based form building and hosting service fronting either integrations with agency applications or a lightweight Power Platform fulfillment service</a:t>
            </a:r>
          </a:p>
        </p:txBody>
      </p:sp>
      <p:sp>
        <p:nvSpPr>
          <p:cNvPr id="7" name="TextBox 6">
            <a:extLst>
              <a:ext uri="{FF2B5EF4-FFF2-40B4-BE49-F238E27FC236}">
                <a16:creationId xmlns:a16="http://schemas.microsoft.com/office/drawing/2014/main" id="{055AF3CF-074B-F9C8-0A44-20E9229177CB}"/>
              </a:ext>
            </a:extLst>
          </p:cNvPr>
          <p:cNvSpPr txBox="1"/>
          <p:nvPr/>
        </p:nvSpPr>
        <p:spPr>
          <a:xfrm>
            <a:off x="11776044" y="3523376"/>
            <a:ext cx="5819862"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Forms Builder / Common Intake</a:t>
            </a:r>
            <a:r>
              <a:rPr lang="en-US" sz="2800">
                <a:ea typeface="+mn-lt"/>
                <a:cs typeface="+mn-lt"/>
              </a:rPr>
              <a:t> Forms Builder is a JSON-based service for building and hosting digital intake forms. Forms can route submissions directly to existing agency backends, or to the Lightweight Fulfillment service for agencies that don't yet have a backend system — enabling rapid service digitization without full backend integration.</a:t>
            </a:r>
            <a:endParaRPr lang="en-US">
              <a:ea typeface="+mn-lt"/>
              <a:cs typeface="+mn-lt"/>
            </a:endParaRPr>
          </a:p>
          <a:p>
            <a:endParaRPr lang="en-US" sz="2800">
              <a:ea typeface="+mn-lt"/>
              <a:cs typeface="+mn-lt"/>
            </a:endParaRPr>
          </a:p>
        </p:txBody>
      </p:sp>
      <p:sp>
        <p:nvSpPr>
          <p:cNvPr id="9" name="TextBox 8">
            <a:extLst>
              <a:ext uri="{FF2B5EF4-FFF2-40B4-BE49-F238E27FC236}">
                <a16:creationId xmlns:a16="http://schemas.microsoft.com/office/drawing/2014/main" id="{E365D946-2046-2A67-E452-D22F0D2820D7}"/>
              </a:ext>
            </a:extLst>
          </p:cNvPr>
          <p:cNvSpPr txBox="1"/>
          <p:nvPr/>
        </p:nvSpPr>
        <p:spPr>
          <a:xfrm>
            <a:off x="11776044" y="8745523"/>
            <a:ext cx="58198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Unified Profile is required to re-use profile data</a:t>
            </a:r>
          </a:p>
        </p:txBody>
      </p:sp>
      <p:pic>
        <p:nvPicPr>
          <p:cNvPr id="13" name="Picture 12">
            <a:extLst>
              <a:ext uri="{FF2B5EF4-FFF2-40B4-BE49-F238E27FC236}">
                <a16:creationId xmlns:a16="http://schemas.microsoft.com/office/drawing/2014/main" id="{6650EE05-2759-E58A-E25A-8CBEF497879A}"/>
              </a:ext>
            </a:extLst>
          </p:cNvPr>
          <p:cNvPicPr>
            <a:picLocks noChangeAspect="1"/>
          </p:cNvPicPr>
          <p:nvPr/>
        </p:nvPicPr>
        <p:blipFill>
          <a:blip r:embed="rId4"/>
          <a:stretch>
            <a:fillRect/>
          </a:stretch>
        </p:blipFill>
        <p:spPr>
          <a:xfrm>
            <a:off x="398477" y="3519611"/>
            <a:ext cx="10884716" cy="5586208"/>
          </a:xfrm>
          <a:prstGeom prst="rect">
            <a:avLst/>
          </a:prstGeom>
        </p:spPr>
      </p:pic>
    </p:spTree>
    <p:extLst>
      <p:ext uri="{BB962C8B-B14F-4D97-AF65-F5344CB8AC3E}">
        <p14:creationId xmlns:p14="http://schemas.microsoft.com/office/powerpoint/2010/main" val="2606345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C93B-94F5-081B-0805-6EA0B8F9F27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EC01F27-EFD0-D43D-DCC8-0FABBCB73D13}"/>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Common Intake Lightweight Fulfillment</a:t>
            </a:r>
          </a:p>
        </p:txBody>
      </p:sp>
      <p:grpSp>
        <p:nvGrpSpPr>
          <p:cNvPr id="3" name="Group 3">
            <a:extLst>
              <a:ext uri="{FF2B5EF4-FFF2-40B4-BE49-F238E27FC236}">
                <a16:creationId xmlns:a16="http://schemas.microsoft.com/office/drawing/2014/main" id="{8917D029-FD31-6366-F298-41F22B9DDE3E}"/>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1B17753D-4B4D-8667-6257-9292BB576D4F}"/>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6AE6AC79-93ED-9C54-1974-4DB3219C671E}"/>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0" name="Freeform 10" descr="Graphical user interface, application  Description automatically generated">
            <a:extLst>
              <a:ext uri="{FF2B5EF4-FFF2-40B4-BE49-F238E27FC236}">
                <a16:creationId xmlns:a16="http://schemas.microsoft.com/office/drawing/2014/main" id="{0049EB9A-B2CB-F3E7-56C2-3A69DE481240}"/>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
        <p:nvSpPr>
          <p:cNvPr id="8" name="TextBox 7">
            <a:extLst>
              <a:ext uri="{FF2B5EF4-FFF2-40B4-BE49-F238E27FC236}">
                <a16:creationId xmlns:a16="http://schemas.microsoft.com/office/drawing/2014/main" id="{67A53721-A3E9-FC07-878E-DEB8270EE001}"/>
              </a:ext>
            </a:extLst>
          </p:cNvPr>
          <p:cNvSpPr txBox="1"/>
          <p:nvPr/>
        </p:nvSpPr>
        <p:spPr>
          <a:xfrm>
            <a:off x="725510" y="2152605"/>
            <a:ext cx="168751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A lightweight Power Platform fulfillment service with basic workflow and routing functionality where integrations with backend agency applications is not required</a:t>
            </a:r>
          </a:p>
        </p:txBody>
      </p:sp>
      <p:pic>
        <p:nvPicPr>
          <p:cNvPr id="7" name="Picture 6">
            <a:extLst>
              <a:ext uri="{FF2B5EF4-FFF2-40B4-BE49-F238E27FC236}">
                <a16:creationId xmlns:a16="http://schemas.microsoft.com/office/drawing/2014/main" id="{5AF5B578-3228-817A-E68C-31E7CD9F6646}"/>
              </a:ext>
            </a:extLst>
          </p:cNvPr>
          <p:cNvPicPr>
            <a:picLocks noChangeAspect="1"/>
          </p:cNvPicPr>
          <p:nvPr/>
        </p:nvPicPr>
        <p:blipFill>
          <a:blip r:embed="rId4"/>
          <a:stretch>
            <a:fillRect/>
          </a:stretch>
        </p:blipFill>
        <p:spPr>
          <a:xfrm>
            <a:off x="471881" y="3335381"/>
            <a:ext cx="10958120" cy="4203464"/>
          </a:xfrm>
          <a:prstGeom prst="rect">
            <a:avLst/>
          </a:prstGeom>
        </p:spPr>
      </p:pic>
      <p:sp>
        <p:nvSpPr>
          <p:cNvPr id="11" name="TextBox 10">
            <a:extLst>
              <a:ext uri="{FF2B5EF4-FFF2-40B4-BE49-F238E27FC236}">
                <a16:creationId xmlns:a16="http://schemas.microsoft.com/office/drawing/2014/main" id="{8CE955EB-F7B0-4308-0074-2E5E620B765A}"/>
              </a:ext>
            </a:extLst>
          </p:cNvPr>
          <p:cNvSpPr txBox="1"/>
          <p:nvPr/>
        </p:nvSpPr>
        <p:spPr>
          <a:xfrm>
            <a:off x="11776044" y="2883715"/>
            <a:ext cx="5819862"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r>
              <a:rPr lang="en-US" sz="2800" b="1">
                <a:ea typeface="+mn-lt"/>
                <a:cs typeface="+mn-lt"/>
              </a:rPr>
              <a:t>Common Intake Lightweight Fulfillment</a:t>
            </a:r>
            <a:r>
              <a:rPr lang="en-US" sz="2800">
                <a:ea typeface="+mn-lt"/>
                <a:cs typeface="+mn-lt"/>
              </a:rPr>
              <a:t> </a:t>
            </a:r>
            <a:endParaRPr lang="en-US">
              <a:ea typeface="+mn-lt"/>
              <a:cs typeface="+mn-lt"/>
            </a:endParaRPr>
          </a:p>
          <a:p>
            <a:r>
              <a:rPr lang="en-US" sz="2800">
                <a:ea typeface="+mn-lt"/>
                <a:cs typeface="+mn-lt"/>
              </a:rPr>
              <a:t>The Lightweight Fulfillment service provides a Power Platform-based workflow and routing backend for agencies that don't have an existing application system. Working directly with Forms Builder, it delivers end-to-end digital intake without requiring custom development.</a:t>
            </a:r>
            <a:endParaRPr lang="en-US">
              <a:ea typeface="+mn-lt"/>
              <a:cs typeface="+mn-lt"/>
            </a:endParaRPr>
          </a:p>
          <a:p>
            <a:endParaRPr lang="en-US" sz="2800">
              <a:ea typeface="+mn-lt"/>
              <a:cs typeface="+mn-lt"/>
            </a:endParaRPr>
          </a:p>
        </p:txBody>
      </p:sp>
      <p:sp>
        <p:nvSpPr>
          <p:cNvPr id="13" name="TextBox 12">
            <a:extLst>
              <a:ext uri="{FF2B5EF4-FFF2-40B4-BE49-F238E27FC236}">
                <a16:creationId xmlns:a16="http://schemas.microsoft.com/office/drawing/2014/main" id="{4736F670-C45A-E755-DE9F-A87839C7716F}"/>
              </a:ext>
            </a:extLst>
          </p:cNvPr>
          <p:cNvSpPr txBox="1"/>
          <p:nvPr/>
        </p:nvSpPr>
        <p:spPr>
          <a:xfrm>
            <a:off x="11776044" y="8336559"/>
            <a:ext cx="581986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Service Dependencies</a:t>
            </a:r>
            <a:r>
              <a:rPr lang="en-US" sz="2000">
                <a:ea typeface="+mn-lt"/>
                <a:cs typeface="+mn-lt"/>
              </a:rPr>
              <a:t> </a:t>
            </a:r>
            <a:br>
              <a:rPr lang="en-US" sz="2000">
                <a:ea typeface="+mn-lt"/>
                <a:cs typeface="+mn-lt"/>
              </a:rPr>
            </a:br>
            <a:r>
              <a:rPr lang="en-US" sz="2000">
                <a:ea typeface="+mn-lt"/>
                <a:cs typeface="+mn-lt"/>
              </a:rPr>
              <a:t>Unified Profile is recommended to personalize recommendations based on resident data and service history</a:t>
            </a:r>
          </a:p>
        </p:txBody>
      </p:sp>
    </p:spTree>
    <p:extLst>
      <p:ext uri="{BB962C8B-B14F-4D97-AF65-F5344CB8AC3E}">
        <p14:creationId xmlns:p14="http://schemas.microsoft.com/office/powerpoint/2010/main" val="291148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Contact</a:t>
            </a:r>
          </a:p>
        </p:txBody>
      </p:sp>
      <p:grpSp>
        <p:nvGrpSpPr>
          <p:cNvPr id="3" name="Group 3"/>
          <p:cNvGrpSpPr/>
          <p:nvPr/>
        </p:nvGrpSpPr>
        <p:grpSpPr>
          <a:xfrm>
            <a:off x="-9525" y="1847850"/>
            <a:ext cx="18307050" cy="76200"/>
            <a:chOff x="0" y="0"/>
            <a:chExt cx="24409400" cy="101600"/>
          </a:xfrm>
        </p:grpSpPr>
        <p:sp>
          <p:nvSpPr>
            <p:cNvPr id="4" name="Freeform 4"/>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6" name="Freeform 6"/>
          <p:cNvSpPr/>
          <p:nvPr/>
        </p:nvSpPr>
        <p:spPr>
          <a:xfrm>
            <a:off x="11847187" y="3071466"/>
            <a:ext cx="1169174" cy="1169174"/>
          </a:xfrm>
          <a:custGeom>
            <a:avLst/>
            <a:gdLst/>
            <a:ahLst/>
            <a:cxnLst/>
            <a:rect l="l" t="t" r="r" b="b"/>
            <a:pathLst>
              <a:path w="1169174" h="1169174">
                <a:moveTo>
                  <a:pt x="0" y="0"/>
                </a:moveTo>
                <a:lnTo>
                  <a:pt x="1169173" y="0"/>
                </a:lnTo>
                <a:lnTo>
                  <a:pt x="1169173" y="1169174"/>
                </a:lnTo>
                <a:lnTo>
                  <a:pt x="0" y="1169174"/>
                </a:lnTo>
                <a:lnTo>
                  <a:pt x="0" y="0"/>
                </a:lnTo>
                <a:close/>
              </a:path>
            </a:pathLst>
          </a:custGeom>
          <a:solidFill>
            <a:srgbClr val="9EB0FF"/>
          </a:solidFill>
        </p:spPr>
        <p:txBody>
          <a:bodyPr/>
          <a:lstStyle/>
          <a:p>
            <a:endParaRPr lang="en-US"/>
          </a:p>
        </p:txBody>
      </p:sp>
      <p:sp>
        <p:nvSpPr>
          <p:cNvPr id="7" name="Freeform 7"/>
          <p:cNvSpPr/>
          <p:nvPr/>
        </p:nvSpPr>
        <p:spPr>
          <a:xfrm>
            <a:off x="12063657" y="3282300"/>
            <a:ext cx="763861" cy="766648"/>
          </a:xfrm>
          <a:custGeom>
            <a:avLst/>
            <a:gdLst/>
            <a:ahLst/>
            <a:cxnLst/>
            <a:rect l="l" t="t" r="r" b="b"/>
            <a:pathLst>
              <a:path w="763861" h="766648">
                <a:moveTo>
                  <a:pt x="0" y="0"/>
                </a:moveTo>
                <a:lnTo>
                  <a:pt x="763861" y="0"/>
                </a:lnTo>
                <a:lnTo>
                  <a:pt x="763861" y="766648"/>
                </a:lnTo>
                <a:lnTo>
                  <a:pt x="0" y="7666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2125691" y="6210936"/>
            <a:ext cx="612166" cy="840022"/>
          </a:xfrm>
          <a:custGeom>
            <a:avLst/>
            <a:gdLst/>
            <a:ahLst/>
            <a:cxnLst/>
            <a:rect l="l" t="t" r="r" b="b"/>
            <a:pathLst>
              <a:path w="612166" h="840022">
                <a:moveTo>
                  <a:pt x="0" y="0"/>
                </a:moveTo>
                <a:lnTo>
                  <a:pt x="612166" y="0"/>
                </a:lnTo>
                <a:lnTo>
                  <a:pt x="612166" y="840022"/>
                </a:lnTo>
                <a:lnTo>
                  <a:pt x="0" y="8400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1847187" y="4558913"/>
            <a:ext cx="1169174" cy="1169174"/>
          </a:xfrm>
          <a:custGeom>
            <a:avLst/>
            <a:gdLst/>
            <a:ahLst/>
            <a:cxnLst/>
            <a:rect l="l" t="t" r="r" b="b"/>
            <a:pathLst>
              <a:path w="1169174" h="1169174">
                <a:moveTo>
                  <a:pt x="0" y="0"/>
                </a:moveTo>
                <a:lnTo>
                  <a:pt x="1169173" y="0"/>
                </a:lnTo>
                <a:lnTo>
                  <a:pt x="1169173" y="1169174"/>
                </a:lnTo>
                <a:lnTo>
                  <a:pt x="0" y="1169174"/>
                </a:lnTo>
                <a:lnTo>
                  <a:pt x="0" y="0"/>
                </a:lnTo>
                <a:close/>
              </a:path>
            </a:pathLst>
          </a:custGeom>
          <a:solidFill>
            <a:srgbClr val="9EB0FF"/>
          </a:solidFill>
        </p:spPr>
        <p:txBody>
          <a:bodyPr/>
          <a:lstStyle/>
          <a:p>
            <a:endParaRPr lang="en-US"/>
          </a:p>
        </p:txBody>
      </p:sp>
      <p:sp>
        <p:nvSpPr>
          <p:cNvPr id="11" name="Freeform 11"/>
          <p:cNvSpPr/>
          <p:nvPr/>
        </p:nvSpPr>
        <p:spPr>
          <a:xfrm>
            <a:off x="12063657" y="4883248"/>
            <a:ext cx="717991" cy="552201"/>
          </a:xfrm>
          <a:custGeom>
            <a:avLst/>
            <a:gdLst/>
            <a:ahLst/>
            <a:cxnLst/>
            <a:rect l="l" t="t" r="r" b="b"/>
            <a:pathLst>
              <a:path w="717991" h="552201">
                <a:moveTo>
                  <a:pt x="0" y="0"/>
                </a:moveTo>
                <a:lnTo>
                  <a:pt x="717991" y="0"/>
                </a:lnTo>
                <a:lnTo>
                  <a:pt x="717991" y="552200"/>
                </a:lnTo>
                <a:lnTo>
                  <a:pt x="0" y="5522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2"/>
          <p:cNvSpPr txBox="1"/>
          <p:nvPr/>
        </p:nvSpPr>
        <p:spPr>
          <a:xfrm>
            <a:off x="5271640" y="3463970"/>
            <a:ext cx="6188305" cy="514766"/>
          </a:xfrm>
          <a:prstGeom prst="rect">
            <a:avLst/>
          </a:prstGeom>
        </p:spPr>
        <p:txBody>
          <a:bodyPr lIns="0" tIns="0" rIns="0" bIns="0" rtlCol="0" anchor="t">
            <a:spAutoFit/>
          </a:bodyPr>
          <a:lstStyle/>
          <a:p>
            <a:pPr algn="r">
              <a:lnSpc>
                <a:spcPts val="3988"/>
              </a:lnSpc>
            </a:pPr>
            <a:r>
              <a:rPr lang="en-US" sz="3625" b="1" spc="308">
                <a:solidFill>
                  <a:srgbClr val="18072B"/>
                </a:solidFill>
                <a:latin typeface="Arial" panose="020B0604020202020204" pitchFamily="34" charset="0"/>
                <a:ea typeface="Kollektif Bold"/>
                <a:cs typeface="Arial" panose="020B0604020202020204" pitchFamily="34" charset="0"/>
                <a:sym typeface="Kollektif Bold"/>
              </a:rPr>
              <a:t>https://mycity.nyc.gov/</a:t>
            </a:r>
          </a:p>
        </p:txBody>
      </p:sp>
      <p:sp>
        <p:nvSpPr>
          <p:cNvPr id="13" name="TextBox 13"/>
          <p:cNvSpPr txBox="1"/>
          <p:nvPr/>
        </p:nvSpPr>
        <p:spPr>
          <a:xfrm>
            <a:off x="2912012" y="4849056"/>
            <a:ext cx="8558528" cy="557845"/>
          </a:xfrm>
          <a:prstGeom prst="rect">
            <a:avLst/>
          </a:prstGeom>
        </p:spPr>
        <p:txBody>
          <a:bodyPr wrap="square" lIns="0" tIns="0" rIns="0" bIns="0" rtlCol="0" anchor="t">
            <a:spAutoFit/>
          </a:bodyPr>
          <a:lstStyle/>
          <a:p>
            <a:pPr algn="r">
              <a:lnSpc>
                <a:spcPts val="4713"/>
              </a:lnSpc>
            </a:pPr>
            <a:r>
              <a:rPr lang="en-US" sz="3625" b="1">
                <a:solidFill>
                  <a:srgbClr val="18072B"/>
                </a:solidFill>
                <a:latin typeface="Arial" panose="020B0604020202020204" pitchFamily="34" charset="0"/>
                <a:ea typeface="Kollektif Bold"/>
                <a:cs typeface="Arial" panose="020B0604020202020204" pitchFamily="34" charset="0"/>
                <a:sym typeface="Kollektif Bold"/>
              </a:rPr>
              <a:t>MyCityIntegrations@oti.nyc.gov</a:t>
            </a:r>
          </a:p>
        </p:txBody>
      </p:sp>
      <p:sp>
        <p:nvSpPr>
          <p:cNvPr id="15" name="Freeform 15" descr="Graphical user interface, application  Description automatically generated"/>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2220654852"/>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AAB4C-86BA-C0F3-073A-0DB672A2067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773B56-EDB2-6405-B537-49F7E89FF767}"/>
              </a:ext>
            </a:extLst>
          </p:cNvPr>
          <p:cNvSpPr txBox="1"/>
          <p:nvPr/>
        </p:nvSpPr>
        <p:spPr>
          <a:xfrm>
            <a:off x="753591" y="964391"/>
            <a:ext cx="13028624" cy="695325"/>
          </a:xfrm>
          <a:prstGeom prst="rect">
            <a:avLst/>
          </a:prstGeom>
        </p:spPr>
        <p:txBody>
          <a:bodyPr lIns="0" tIns="0" rIns="0" bIns="0" rtlCol="0" anchor="t">
            <a:spAutoFit/>
          </a:bodyPr>
          <a:lstStyle/>
          <a:p>
            <a:pPr algn="l">
              <a:lnSpc>
                <a:spcPts val="5400"/>
              </a:lnSpc>
            </a:pPr>
            <a:r>
              <a:rPr lang="en-US" sz="5400">
                <a:solidFill>
                  <a:srgbClr val="262626"/>
                </a:solidFill>
                <a:latin typeface="Arial" panose="020B0604020202020204" pitchFamily="34" charset="0"/>
                <a:ea typeface="Public Sans"/>
                <a:cs typeface="Arial" panose="020B0604020202020204" pitchFamily="34" charset="0"/>
                <a:sym typeface="Public Sans"/>
              </a:rPr>
              <a:t>Resources</a:t>
            </a:r>
          </a:p>
        </p:txBody>
      </p:sp>
      <p:grpSp>
        <p:nvGrpSpPr>
          <p:cNvPr id="3" name="Group 3">
            <a:extLst>
              <a:ext uri="{FF2B5EF4-FFF2-40B4-BE49-F238E27FC236}">
                <a16:creationId xmlns:a16="http://schemas.microsoft.com/office/drawing/2014/main" id="{252FFA1E-4542-16EC-34D8-90E3E94FD073}"/>
              </a:ext>
            </a:extLst>
          </p:cNvPr>
          <p:cNvGrpSpPr/>
          <p:nvPr/>
        </p:nvGrpSpPr>
        <p:grpSpPr>
          <a:xfrm>
            <a:off x="-9525" y="1847850"/>
            <a:ext cx="18307050" cy="76200"/>
            <a:chOff x="0" y="0"/>
            <a:chExt cx="24409400" cy="101600"/>
          </a:xfrm>
        </p:grpSpPr>
        <p:sp>
          <p:nvSpPr>
            <p:cNvPr id="4" name="Freeform 4">
              <a:extLst>
                <a:ext uri="{FF2B5EF4-FFF2-40B4-BE49-F238E27FC236}">
                  <a16:creationId xmlns:a16="http://schemas.microsoft.com/office/drawing/2014/main" id="{00B53B47-90CE-F246-B3CD-97D6852902EB}"/>
                </a:ext>
              </a:extLst>
            </p:cNvPr>
            <p:cNvSpPr/>
            <p:nvPr/>
          </p:nvSpPr>
          <p:spPr>
            <a:xfrm>
              <a:off x="12700" y="12700"/>
              <a:ext cx="24384000" cy="76200"/>
            </a:xfrm>
            <a:custGeom>
              <a:avLst/>
              <a:gdLst/>
              <a:ahLst/>
              <a:cxnLst/>
              <a:rect l="l" t="t" r="r" b="b"/>
              <a:pathLst>
                <a:path w="24384000" h="76200">
                  <a:moveTo>
                    <a:pt x="0" y="0"/>
                  </a:moveTo>
                  <a:lnTo>
                    <a:pt x="24384000" y="0"/>
                  </a:lnTo>
                  <a:lnTo>
                    <a:pt x="24384000" y="76200"/>
                  </a:lnTo>
                  <a:lnTo>
                    <a:pt x="0" y="76200"/>
                  </a:lnTo>
                  <a:close/>
                </a:path>
              </a:pathLst>
            </a:custGeom>
            <a:solidFill>
              <a:srgbClr val="ED137D"/>
            </a:solidFill>
          </p:spPr>
          <p:txBody>
            <a:bodyPr/>
            <a:lstStyle/>
            <a:p>
              <a:endParaRPr lang="en-US"/>
            </a:p>
          </p:txBody>
        </p:sp>
        <p:sp>
          <p:nvSpPr>
            <p:cNvPr id="5" name="Freeform 5">
              <a:extLst>
                <a:ext uri="{FF2B5EF4-FFF2-40B4-BE49-F238E27FC236}">
                  <a16:creationId xmlns:a16="http://schemas.microsoft.com/office/drawing/2014/main" id="{4096CEAA-00B0-795D-B64F-8B1576ED8E53}"/>
                </a:ext>
              </a:extLst>
            </p:cNvPr>
            <p:cNvSpPr/>
            <p:nvPr/>
          </p:nvSpPr>
          <p:spPr>
            <a:xfrm>
              <a:off x="0" y="0"/>
              <a:ext cx="24409400" cy="101600"/>
            </a:xfrm>
            <a:custGeom>
              <a:avLst/>
              <a:gdLst/>
              <a:ahLst/>
              <a:cxnLst/>
              <a:rect l="l" t="t" r="r" b="b"/>
              <a:pathLst>
                <a:path w="24409400" h="101600">
                  <a:moveTo>
                    <a:pt x="12700" y="0"/>
                  </a:moveTo>
                  <a:lnTo>
                    <a:pt x="24396700" y="0"/>
                  </a:lnTo>
                  <a:cubicBezTo>
                    <a:pt x="24403686" y="0"/>
                    <a:pt x="24409400" y="5715"/>
                    <a:pt x="24409400" y="12700"/>
                  </a:cubicBezTo>
                  <a:lnTo>
                    <a:pt x="24409400" y="88900"/>
                  </a:lnTo>
                  <a:cubicBezTo>
                    <a:pt x="24409400" y="95885"/>
                    <a:pt x="24403686" y="101600"/>
                    <a:pt x="24396700" y="101600"/>
                  </a:cubicBezTo>
                  <a:lnTo>
                    <a:pt x="12700" y="101600"/>
                  </a:lnTo>
                  <a:cubicBezTo>
                    <a:pt x="5715" y="101600"/>
                    <a:pt x="0" y="95885"/>
                    <a:pt x="0" y="88900"/>
                  </a:cubicBezTo>
                  <a:lnTo>
                    <a:pt x="0" y="12700"/>
                  </a:lnTo>
                  <a:cubicBezTo>
                    <a:pt x="0" y="5715"/>
                    <a:pt x="5715" y="0"/>
                    <a:pt x="12700" y="0"/>
                  </a:cubicBezTo>
                  <a:moveTo>
                    <a:pt x="12700" y="25400"/>
                  </a:moveTo>
                  <a:lnTo>
                    <a:pt x="12700" y="12700"/>
                  </a:lnTo>
                  <a:lnTo>
                    <a:pt x="25400" y="12700"/>
                  </a:lnTo>
                  <a:lnTo>
                    <a:pt x="25400" y="88900"/>
                  </a:lnTo>
                  <a:lnTo>
                    <a:pt x="12700" y="88900"/>
                  </a:lnTo>
                  <a:lnTo>
                    <a:pt x="12700" y="76200"/>
                  </a:lnTo>
                  <a:lnTo>
                    <a:pt x="24396700" y="76200"/>
                  </a:lnTo>
                  <a:lnTo>
                    <a:pt x="24396700" y="88900"/>
                  </a:lnTo>
                  <a:lnTo>
                    <a:pt x="24384000" y="88900"/>
                  </a:lnTo>
                  <a:lnTo>
                    <a:pt x="24384000" y="12700"/>
                  </a:lnTo>
                  <a:lnTo>
                    <a:pt x="24396700" y="12700"/>
                  </a:lnTo>
                  <a:lnTo>
                    <a:pt x="24396700" y="25400"/>
                  </a:lnTo>
                  <a:lnTo>
                    <a:pt x="12700" y="25400"/>
                  </a:lnTo>
                  <a:close/>
                </a:path>
              </a:pathLst>
            </a:custGeom>
            <a:solidFill>
              <a:srgbClr val="ED137D"/>
            </a:solidFill>
          </p:spPr>
          <p:txBody>
            <a:bodyPr/>
            <a:lstStyle/>
            <a:p>
              <a:endParaRPr lang="en-US"/>
            </a:p>
          </p:txBody>
        </p:sp>
      </p:grpSp>
      <p:sp>
        <p:nvSpPr>
          <p:cNvPr id="15" name="Freeform 15" descr="Graphical user interface, application  Description automatically generated">
            <a:extLst>
              <a:ext uri="{FF2B5EF4-FFF2-40B4-BE49-F238E27FC236}">
                <a16:creationId xmlns:a16="http://schemas.microsoft.com/office/drawing/2014/main" id="{939953A6-2C92-307A-1DDD-599EF62D6DF0}"/>
              </a:ext>
            </a:extLst>
          </p:cNvPr>
          <p:cNvSpPr/>
          <p:nvPr/>
        </p:nvSpPr>
        <p:spPr>
          <a:xfrm>
            <a:off x="0" y="68816"/>
            <a:ext cx="1898147" cy="544768"/>
          </a:xfrm>
          <a:custGeom>
            <a:avLst/>
            <a:gdLst/>
            <a:ahLst/>
            <a:cxnLst/>
            <a:rect l="l" t="t" r="r" b="b"/>
            <a:pathLst>
              <a:path w="1898147" h="544768">
                <a:moveTo>
                  <a:pt x="0" y="0"/>
                </a:moveTo>
                <a:lnTo>
                  <a:pt x="1898147" y="0"/>
                </a:lnTo>
                <a:lnTo>
                  <a:pt x="1898147" y="544768"/>
                </a:lnTo>
                <a:lnTo>
                  <a:pt x="0" y="544768"/>
                </a:lnTo>
                <a:lnTo>
                  <a:pt x="0" y="0"/>
                </a:lnTo>
                <a:close/>
              </a:path>
            </a:pathLst>
          </a:custGeom>
          <a:blipFill>
            <a:blip r:embed="rId3"/>
            <a:stretch>
              <a:fillRect/>
            </a:stretch>
          </a:blipFill>
        </p:spPr>
        <p:txBody>
          <a:bodyPr/>
          <a:lstStyle/>
          <a:p>
            <a:endParaRPr lang="en-US"/>
          </a:p>
        </p:txBody>
      </p:sp>
      <p:sp>
        <p:nvSpPr>
          <p:cNvPr id="16" name="TextBox 15">
            <a:extLst>
              <a:ext uri="{FF2B5EF4-FFF2-40B4-BE49-F238E27FC236}">
                <a16:creationId xmlns:a16="http://schemas.microsoft.com/office/drawing/2014/main" id="{D503435C-A8D0-6E65-79CC-A14BC27C7DC2}"/>
              </a:ext>
            </a:extLst>
          </p:cNvPr>
          <p:cNvSpPr txBox="1"/>
          <p:nvPr/>
        </p:nvSpPr>
        <p:spPr>
          <a:xfrm>
            <a:off x="1600200" y="2694383"/>
            <a:ext cx="14436969" cy="2123658"/>
          </a:xfrm>
          <a:prstGeom prst="rect">
            <a:avLst/>
          </a:prstGeom>
          <a:noFill/>
        </p:spPr>
        <p:txBody>
          <a:bodyPr wrap="square" rtlCol="0">
            <a:spAutoFit/>
          </a:bodyPr>
          <a:lstStyle/>
          <a:p>
            <a:pPr marL="342900" indent="-342900">
              <a:buFont typeface="Arial" panose="020B0604020202020204" pitchFamily="34" charset="0"/>
              <a:buChar char="•"/>
            </a:pPr>
            <a:r>
              <a:rPr lang="en-US" sz="4400">
                <a:hlinkClick r:id="rId4"/>
              </a:rPr>
              <a:t>Common Services Integration Playbook</a:t>
            </a:r>
            <a:endParaRPr lang="en-US" sz="4400"/>
          </a:p>
          <a:p>
            <a:pPr marL="342900" indent="-342900">
              <a:buFont typeface="Arial" panose="020B0604020202020204" pitchFamily="34" charset="0"/>
              <a:buChar char="•"/>
            </a:pPr>
            <a:r>
              <a:rPr lang="en-US" sz="4400">
                <a:hlinkClick r:id="rId5"/>
              </a:rPr>
              <a:t>Integration of Public-Facing Digital Services Standard</a:t>
            </a:r>
            <a:endParaRPr lang="en-US" sz="4400"/>
          </a:p>
          <a:p>
            <a:pPr marL="342900" indent="-342900">
              <a:buFont typeface="Arial" panose="020B0604020202020204" pitchFamily="34" charset="0"/>
              <a:buChar char="•"/>
            </a:pPr>
            <a:r>
              <a:rPr lang="en-US" sz="4400">
                <a:hlinkClick r:id="rId6"/>
              </a:rPr>
              <a:t>Integration Request Form (via Service Now)</a:t>
            </a:r>
            <a:endParaRPr lang="en-US" sz="4400"/>
          </a:p>
        </p:txBody>
      </p:sp>
    </p:spTree>
    <p:extLst>
      <p:ext uri="{BB962C8B-B14F-4D97-AF65-F5344CB8AC3E}">
        <p14:creationId xmlns:p14="http://schemas.microsoft.com/office/powerpoint/2010/main" val="349687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43384" y="3497506"/>
            <a:ext cx="8848579" cy="1384995"/>
          </a:xfrm>
          <a:prstGeom prst="rect">
            <a:avLst/>
          </a:prstGeom>
        </p:spPr>
        <p:txBody>
          <a:bodyPr lIns="0" tIns="0" rIns="0" bIns="0" rtlCol="0" anchor="t">
            <a:spAutoFit/>
          </a:bodyPr>
          <a:lstStyle/>
          <a:p>
            <a:pPr algn="l">
              <a:lnSpc>
                <a:spcPts val="10800"/>
              </a:lnSpc>
            </a:pPr>
            <a:r>
              <a:rPr lang="en-US" sz="9000" b="1">
                <a:solidFill>
                  <a:srgbClr val="000000"/>
                </a:solidFill>
                <a:latin typeface="Arial" panose="020B0604020202020204" pitchFamily="34" charset="0"/>
                <a:ea typeface="Helvetica Bold"/>
                <a:cs typeface="Arial" panose="020B0604020202020204" pitchFamily="34" charset="0"/>
                <a:sym typeface="Helvetica Bold"/>
              </a:rPr>
              <a:t>Thank you</a:t>
            </a:r>
          </a:p>
        </p:txBody>
      </p:sp>
      <p:grpSp>
        <p:nvGrpSpPr>
          <p:cNvPr id="3" name="Group 3"/>
          <p:cNvGrpSpPr/>
          <p:nvPr/>
        </p:nvGrpSpPr>
        <p:grpSpPr>
          <a:xfrm>
            <a:off x="5924100" y="5352601"/>
            <a:ext cx="6445758" cy="191548"/>
            <a:chOff x="0" y="0"/>
            <a:chExt cx="8594344" cy="255397"/>
          </a:xfrm>
        </p:grpSpPr>
        <p:sp>
          <p:nvSpPr>
            <p:cNvPr id="4" name="Freeform 4"/>
            <p:cNvSpPr/>
            <p:nvPr/>
          </p:nvSpPr>
          <p:spPr>
            <a:xfrm>
              <a:off x="12700" y="12700"/>
              <a:ext cx="8568944" cy="229997"/>
            </a:xfrm>
            <a:custGeom>
              <a:avLst/>
              <a:gdLst/>
              <a:ahLst/>
              <a:cxnLst/>
              <a:rect l="l" t="t" r="r" b="b"/>
              <a:pathLst>
                <a:path w="8568944" h="229997">
                  <a:moveTo>
                    <a:pt x="0" y="0"/>
                  </a:moveTo>
                  <a:lnTo>
                    <a:pt x="8568944" y="0"/>
                  </a:lnTo>
                  <a:lnTo>
                    <a:pt x="8568944" y="229997"/>
                  </a:lnTo>
                  <a:lnTo>
                    <a:pt x="0" y="229997"/>
                  </a:lnTo>
                  <a:close/>
                </a:path>
              </a:pathLst>
            </a:custGeom>
            <a:solidFill>
              <a:srgbClr val="ED137D"/>
            </a:solidFill>
          </p:spPr>
          <p:txBody>
            <a:bodyPr/>
            <a:lstStyle/>
            <a:p>
              <a:endParaRPr lang="en-US"/>
            </a:p>
          </p:txBody>
        </p:sp>
        <p:sp>
          <p:nvSpPr>
            <p:cNvPr id="5" name="Freeform 5"/>
            <p:cNvSpPr/>
            <p:nvPr/>
          </p:nvSpPr>
          <p:spPr>
            <a:xfrm>
              <a:off x="0" y="0"/>
              <a:ext cx="8594344" cy="255397"/>
            </a:xfrm>
            <a:custGeom>
              <a:avLst/>
              <a:gdLst/>
              <a:ahLst/>
              <a:cxnLst/>
              <a:rect l="l" t="t" r="r" b="b"/>
              <a:pathLst>
                <a:path w="8594344" h="255397">
                  <a:moveTo>
                    <a:pt x="12700" y="0"/>
                  </a:moveTo>
                  <a:lnTo>
                    <a:pt x="8581644" y="0"/>
                  </a:lnTo>
                  <a:cubicBezTo>
                    <a:pt x="8588628" y="0"/>
                    <a:pt x="8594344" y="5715"/>
                    <a:pt x="8594344" y="12700"/>
                  </a:cubicBezTo>
                  <a:lnTo>
                    <a:pt x="8594344" y="242697"/>
                  </a:lnTo>
                  <a:cubicBezTo>
                    <a:pt x="8594344" y="249682"/>
                    <a:pt x="8588628" y="255397"/>
                    <a:pt x="8581644" y="255397"/>
                  </a:cubicBezTo>
                  <a:lnTo>
                    <a:pt x="12700" y="255397"/>
                  </a:lnTo>
                  <a:cubicBezTo>
                    <a:pt x="5715" y="255397"/>
                    <a:pt x="0" y="249682"/>
                    <a:pt x="0" y="242697"/>
                  </a:cubicBezTo>
                  <a:lnTo>
                    <a:pt x="0" y="12700"/>
                  </a:lnTo>
                  <a:cubicBezTo>
                    <a:pt x="0" y="5715"/>
                    <a:pt x="5715" y="0"/>
                    <a:pt x="12700" y="0"/>
                  </a:cubicBezTo>
                  <a:moveTo>
                    <a:pt x="12700" y="25400"/>
                  </a:moveTo>
                  <a:lnTo>
                    <a:pt x="12700" y="12700"/>
                  </a:lnTo>
                  <a:lnTo>
                    <a:pt x="25400" y="12700"/>
                  </a:lnTo>
                  <a:lnTo>
                    <a:pt x="25400" y="242697"/>
                  </a:lnTo>
                  <a:lnTo>
                    <a:pt x="12700" y="242697"/>
                  </a:lnTo>
                  <a:lnTo>
                    <a:pt x="12700" y="229997"/>
                  </a:lnTo>
                  <a:lnTo>
                    <a:pt x="8581644" y="229997"/>
                  </a:lnTo>
                  <a:lnTo>
                    <a:pt x="8581644" y="242697"/>
                  </a:lnTo>
                  <a:lnTo>
                    <a:pt x="8568944" y="242697"/>
                  </a:lnTo>
                  <a:lnTo>
                    <a:pt x="8568944" y="12700"/>
                  </a:lnTo>
                  <a:lnTo>
                    <a:pt x="8581644" y="12700"/>
                  </a:lnTo>
                  <a:lnTo>
                    <a:pt x="8581644" y="25400"/>
                  </a:lnTo>
                  <a:lnTo>
                    <a:pt x="12700" y="25400"/>
                  </a:lnTo>
                  <a:close/>
                </a:path>
              </a:pathLst>
            </a:custGeom>
            <a:solidFill>
              <a:srgbClr val="ED137D"/>
            </a:solidFill>
          </p:spPr>
          <p:txBody>
            <a:bodyPr/>
            <a:lstStyle/>
            <a:p>
              <a:endParaRPr lang="en-US"/>
            </a:p>
          </p:txBody>
        </p:sp>
      </p:grpSp>
      <p:sp>
        <p:nvSpPr>
          <p:cNvPr id="6" name="Freeform 6" descr="a76b096f-7405-45b1-a3a4-46481dae0eca.png"/>
          <p:cNvSpPr/>
          <p:nvPr/>
        </p:nvSpPr>
        <p:spPr>
          <a:xfrm>
            <a:off x="7086600" y="6938418"/>
            <a:ext cx="4114800" cy="1180947"/>
          </a:xfrm>
          <a:custGeom>
            <a:avLst/>
            <a:gdLst/>
            <a:ahLst/>
            <a:cxnLst/>
            <a:rect l="l" t="t" r="r" b="b"/>
            <a:pathLst>
              <a:path w="4114800" h="1180947">
                <a:moveTo>
                  <a:pt x="0" y="0"/>
                </a:moveTo>
                <a:lnTo>
                  <a:pt x="4114800" y="0"/>
                </a:lnTo>
                <a:lnTo>
                  <a:pt x="4114800" y="1180947"/>
                </a:lnTo>
                <a:lnTo>
                  <a:pt x="0" y="1180947"/>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101496035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1E3B422310AA42AA02C0AB0B2E5604" ma:contentTypeVersion="19" ma:contentTypeDescription="Create a new document." ma:contentTypeScope="" ma:versionID="a9ed3c9c03fdc613f70dec72af5fd588">
  <xsd:schema xmlns:xsd="http://www.w3.org/2001/XMLSchema" xmlns:xs="http://www.w3.org/2001/XMLSchema" xmlns:p="http://schemas.microsoft.com/office/2006/metadata/properties" xmlns:ns2="7acef195-a2f7-4e00-b941-2ecf311d870e" xmlns:ns3="98a7de48-2b75-40c9-be98-95c9e27ccc97" targetNamespace="http://schemas.microsoft.com/office/2006/metadata/properties" ma:root="true" ma:fieldsID="f4b1f65c73e3ff551e69b4e118088cd7" ns2:_="" ns3:_="">
    <xsd:import namespace="7acef195-a2f7-4e00-b941-2ecf311d870e"/>
    <xsd:import namespace="98a7de48-2b75-40c9-be98-95c9e27ccc9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LengthInSeconds" minOccurs="0"/>
                <xsd:element ref="ns2:ReleaseDate" minOccurs="0"/>
                <xsd:element ref="ns2:MediaServiceObjectDetectorVersions" minOccurs="0"/>
                <xsd:element ref="ns2:MediaServiceSearchProperties" minOccurs="0"/>
                <xsd:element ref="ns2:Analysi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cef195-a2f7-4e00-b941-2ecf311d87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710a08c-ad05-47cc-9fd1-24772369582b"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ReleaseDate" ma:index="22" nillable="true" ma:displayName="Release Date" ma:description="Date product was deployed to Production" ma:format="DateOnly" ma:internalName="ReleaseDate">
      <xsd:simpleType>
        <xsd:restriction base="dms:DateTim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Analysis" ma:index="25" nillable="true" ma:displayName="Analysis" ma:default="0" ma:description="Use this setting to indicate files that can be used as inputs for contract analysis" ma:internalName="Analysis">
      <xsd:simpleType>
        <xsd:restriction base="dms:Boolean"/>
      </xsd:simpleType>
    </xsd:element>
    <xsd:element name="Notes" ma:index="26" nillable="true" ma:displayName="Notes" ma:description="Notes on this File or Folder item"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8a7de48-2b75-40c9-be98-95c9e27ccc9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1e9b8361-a5a8-4ce3-9f16-08b5a4b20dfa}" ma:internalName="TaxCatchAll" ma:showField="CatchAllData" ma:web="98a7de48-2b75-40c9-be98-95c9e27ccc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nalysis xmlns="7acef195-a2f7-4e00-b941-2ecf311d870e">false</Analysis>
    <TaxCatchAll xmlns="98a7de48-2b75-40c9-be98-95c9e27ccc97" xsi:nil="true"/>
    <ReleaseDate xmlns="7acef195-a2f7-4e00-b941-2ecf311d870e" xsi:nil="true"/>
    <lcf76f155ced4ddcb4097134ff3c332f xmlns="7acef195-a2f7-4e00-b941-2ecf311d870e">
      <Terms xmlns="http://schemas.microsoft.com/office/infopath/2007/PartnerControls"/>
    </lcf76f155ced4ddcb4097134ff3c332f>
    <Notes xmlns="7acef195-a2f7-4e00-b941-2ecf311d870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F5C022-A5A2-4F2C-87C9-8C1F500AC0D1}">
  <ds:schemaRefs>
    <ds:schemaRef ds:uri="7acef195-a2f7-4e00-b941-2ecf311d870e"/>
    <ds:schemaRef ds:uri="98a7de48-2b75-40c9-be98-95c9e27ccc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C8B669-BE4D-4C70-B5EE-7984C75C61F1}">
  <ds:schemaRefs>
    <ds:schemaRef ds:uri="7acef195-a2f7-4e00-b941-2ecf311d870e"/>
    <ds:schemaRef ds:uri="98a7de48-2b75-40c9-be98-95c9e27ccc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518EDA-0001-4A1F-8FA2-C06A9AAA9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19</Slides>
  <Notes>18</Notes>
  <HiddenSlides>3</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Purple Professional Technology Startup Business Company Presentation</dc:title>
  <dc:creator>Hayes, Michael</dc:creator>
  <cp:revision>8</cp:revision>
  <dcterms:created xsi:type="dcterms:W3CDTF">2006-08-16T00:00:00Z</dcterms:created>
  <dcterms:modified xsi:type="dcterms:W3CDTF">2026-04-03T02:26:52Z</dcterms:modified>
  <dc:identifier>DAGTp_Q3t7g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f8bd251-6db5-448a-bc8a-d926a88d2ffd_Enabled">
    <vt:lpwstr>true</vt:lpwstr>
  </property>
  <property fmtid="{D5CDD505-2E9C-101B-9397-08002B2CF9AE}" pid="3" name="MSIP_Label_1f8bd251-6db5-448a-bc8a-d926a88d2ffd_SetDate">
    <vt:lpwstr>2024-10-16T16:50:30Z</vt:lpwstr>
  </property>
  <property fmtid="{D5CDD505-2E9C-101B-9397-08002B2CF9AE}" pid="4" name="MSIP_Label_1f8bd251-6db5-448a-bc8a-d926a88d2ffd_Method">
    <vt:lpwstr>Privileged</vt:lpwstr>
  </property>
  <property fmtid="{D5CDD505-2E9C-101B-9397-08002B2CF9AE}" pid="5" name="MSIP_Label_1f8bd251-6db5-448a-bc8a-d926a88d2ffd_Name">
    <vt:lpwstr>Non-Restricted-Main</vt:lpwstr>
  </property>
  <property fmtid="{D5CDD505-2E9C-101B-9397-08002B2CF9AE}" pid="6" name="MSIP_Label_1f8bd251-6db5-448a-bc8a-d926a88d2ffd_SiteId">
    <vt:lpwstr>73d61799-c284-4022-8d41-54cc4f1929ef</vt:lpwstr>
  </property>
  <property fmtid="{D5CDD505-2E9C-101B-9397-08002B2CF9AE}" pid="7" name="MSIP_Label_1f8bd251-6db5-448a-bc8a-d926a88d2ffd_ActionId">
    <vt:lpwstr>df81ca78-d613-4ffa-a6f3-89ea46e35e58</vt:lpwstr>
  </property>
  <property fmtid="{D5CDD505-2E9C-101B-9397-08002B2CF9AE}" pid="8" name="MSIP_Label_1f8bd251-6db5-448a-bc8a-d926a88d2ffd_ContentBits">
    <vt:lpwstr>0</vt:lpwstr>
  </property>
  <property fmtid="{D5CDD505-2E9C-101B-9397-08002B2CF9AE}" pid="9" name="ContentTypeId">
    <vt:lpwstr>0x010100021E3B422310AA42AA02C0AB0B2E5604</vt:lpwstr>
  </property>
  <property fmtid="{D5CDD505-2E9C-101B-9397-08002B2CF9AE}" pid="10" name="MediaServiceImageTags">
    <vt:lpwstr/>
  </property>
</Properties>
</file>